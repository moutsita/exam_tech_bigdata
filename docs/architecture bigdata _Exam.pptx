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2" r:id="rId3"/>
    <p:sldId id="257" r:id="rId4"/>
    <p:sldId id="263" r:id="rId5"/>
    <p:sldId id="264" r:id="rId6"/>
    <p:sldId id="265" r:id="rId7"/>
    <p:sldId id="266" r:id="rId8"/>
    <p:sldId id="267" r:id="rId9"/>
    <p:sldId id="268" r:id="rId10"/>
    <p:sldId id="269" r:id="rId11"/>
    <p:sldId id="270" r:id="rId12"/>
    <p:sldId id="271" r:id="rId13"/>
    <p:sldId id="272"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1" d="100"/>
          <a:sy n="61" d="100"/>
        </p:scale>
        <p:origin x="107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fr-FR"/>
              <a:t>Modifiez le style du titre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a:xfrm>
            <a:off x="1876424" y="5410201"/>
            <a:ext cx="5124886" cy="365125"/>
          </a:xfrm>
        </p:spPr>
        <p:txBody>
          <a:bodyPr/>
          <a:lstStyle/>
          <a:p>
            <a:endParaRPr lang="fr-FR"/>
          </a:p>
        </p:txBody>
      </p:sp>
      <p:sp>
        <p:nvSpPr>
          <p:cNvPr id="6" name="Slide Number Placeholder 5"/>
          <p:cNvSpPr>
            <a:spLocks noGrp="1"/>
          </p:cNvSpPr>
          <p:nvPr>
            <p:ph type="sldNum" sz="quarter" idx="12"/>
          </p:nvPr>
        </p:nvSpPr>
        <p:spPr>
          <a:xfrm>
            <a:off x="9896911" y="5410199"/>
            <a:ext cx="771089" cy="365125"/>
          </a:xfrm>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415648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571253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20611564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86734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fr-FR"/>
              <a:t>Modifiez le style du titre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1141410" y="3073397"/>
            <a:ext cx="4878391" cy="271780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0" y="3073397"/>
            <a:ext cx="4875210" cy="271780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2C51A1A0-5187-4995-8FC3-C01981DD94EC}" type="datetimeFigureOut">
              <a:rPr lang="fr-FR" smtClean="0"/>
              <a:t>30/04/2026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40569435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2C51A1A0-5187-4995-8FC3-C01981DD94EC}" type="datetimeFigureOut">
              <a:rPr lang="fr-FR" smtClean="0"/>
              <a:t>30/04/2026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2968858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C51A1A0-5187-4995-8FC3-C01981DD94EC}" type="datetimeFigureOut">
              <a:rPr lang="fr-FR" smtClean="0"/>
              <a:t>30/04/2026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24947637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895445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24618392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fr-FR"/>
              <a:t>Cliquez sur l'icône pour ajouter une image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30305501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fr-FR"/>
              <a:t>Modifiez le style du titre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31844504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fr-FR"/>
              <a:t>Modifiez le style du titre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97325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fr-FR"/>
              <a:t>Modifiez le style du titre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8377935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fr-FR"/>
              <a:t>Modifiez le style du titre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2C51A1A0-5187-4995-8FC3-C01981DD94EC}" type="datetimeFigureOut">
              <a:rPr lang="fr-FR" smtClean="0"/>
              <a:t>30/04/2026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3625426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fr-FR"/>
              <a:t>Modifiez le style du titre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fr-FR"/>
              <a:t>Cliquez sur l'icône pour ajouter une image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fr-FR"/>
              <a:t>Cliquez sur l'icône pour ajouter une image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fr-FR"/>
              <a:t>Cliquez sur l'icône pour ajouter une image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2C51A1A0-5187-4995-8FC3-C01981DD94EC}" type="datetimeFigureOut">
              <a:rPr lang="fr-FR" smtClean="0"/>
              <a:t>30/04/2026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0562885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7748922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422191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2C51A1A0-5187-4995-8FC3-C01981DD94EC}" type="datetimeFigureOut">
              <a:rPr lang="fr-FR" smtClean="0"/>
              <a:t>30/04/2026</a:t>
            </a:fld>
            <a:endParaRPr lang="fr-FR"/>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fr-FR"/>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17B8818-2CD3-4360-AA05-A503E7513971}" type="slidenum">
              <a:rPr lang="fr-FR" smtClean="0"/>
              <a:t>‹N°›</a:t>
            </a:fld>
            <a:endParaRPr lang="fr-FR"/>
          </a:p>
        </p:txBody>
      </p:sp>
    </p:spTree>
    <p:extLst>
      <p:ext uri="{BB962C8B-B14F-4D97-AF65-F5344CB8AC3E}">
        <p14:creationId xmlns:p14="http://schemas.microsoft.com/office/powerpoint/2010/main" val="352673592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localhost:8080/"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hyperlink" Target="http://localhost:8081/" TargetMode="External"/><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png"/><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hyperlink" Target="http://localhost:8501/"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1A09666-62E5-6308-D375-6BE780800A0C}"/>
              </a:ext>
            </a:extLst>
          </p:cNvPr>
          <p:cNvSpPr>
            <a:spLocks noGrp="1"/>
          </p:cNvSpPr>
          <p:nvPr>
            <p:ph type="ctrTitle"/>
          </p:nvPr>
        </p:nvSpPr>
        <p:spPr>
          <a:xfrm>
            <a:off x="2507226" y="107122"/>
            <a:ext cx="8653925" cy="866667"/>
          </a:xfrm>
        </p:spPr>
        <p:txBody>
          <a:bodyPr>
            <a:noAutofit/>
          </a:bodyPr>
          <a:lstStyle/>
          <a:p>
            <a:pPr algn="ctr"/>
            <a:r>
              <a:rPr lang="fr-FR" b="1" dirty="0"/>
              <a:t>SYSTEME DE VENTE DES LIVRES</a:t>
            </a:r>
          </a:p>
        </p:txBody>
      </p:sp>
      <p:sp>
        <p:nvSpPr>
          <p:cNvPr id="3" name="Sous-titre 2">
            <a:extLst>
              <a:ext uri="{FF2B5EF4-FFF2-40B4-BE49-F238E27FC236}">
                <a16:creationId xmlns:a16="http://schemas.microsoft.com/office/drawing/2014/main" id="{1B9C318E-959B-AF44-5AFE-999B0E8AD2F8}"/>
              </a:ext>
            </a:extLst>
          </p:cNvPr>
          <p:cNvSpPr>
            <a:spLocks noGrp="1"/>
          </p:cNvSpPr>
          <p:nvPr>
            <p:ph type="subTitle" idx="1"/>
          </p:nvPr>
        </p:nvSpPr>
        <p:spPr>
          <a:xfrm>
            <a:off x="1876423" y="2974191"/>
            <a:ext cx="8791575" cy="1644519"/>
          </a:xfrm>
        </p:spPr>
        <p:txBody>
          <a:bodyPr>
            <a:normAutofit fontScale="77500" lnSpcReduction="20000"/>
          </a:bodyPr>
          <a:lstStyle/>
          <a:p>
            <a:pPr algn="ctr"/>
            <a:r>
              <a:rPr lang="fr-FR" sz="2400" dirty="0"/>
              <a:t>Présenté par : </a:t>
            </a:r>
          </a:p>
          <a:p>
            <a:pPr marL="342900" indent="-342900">
              <a:buFont typeface="Arial" panose="020B0604020202020204" pitchFamily="34" charset="0"/>
              <a:buChar char="•"/>
            </a:pPr>
            <a:r>
              <a:rPr lang="fr-FR" sz="2400" b="1" dirty="0"/>
              <a:t>MOUTSITA Rovincy-Prince-Lémy </a:t>
            </a:r>
          </a:p>
          <a:p>
            <a:pPr marL="342900" indent="-342900">
              <a:buFont typeface="Arial" panose="020B0604020202020204" pitchFamily="34" charset="0"/>
              <a:buChar char="•"/>
            </a:pPr>
            <a:r>
              <a:rPr lang="fr-FR" sz="2400" b="1" dirty="0"/>
              <a:t>BANIEK Eudes Exaucé</a:t>
            </a:r>
          </a:p>
          <a:p>
            <a:pPr marL="342900" indent="-342900">
              <a:buFont typeface="Arial" panose="020B0604020202020204" pitchFamily="34" charset="0"/>
              <a:buChar char="•"/>
            </a:pPr>
            <a:r>
              <a:rPr lang="fr-FR" sz="2400" b="1" dirty="0"/>
              <a:t>YABI Nadine Rémi</a:t>
            </a:r>
          </a:p>
        </p:txBody>
      </p:sp>
      <p:sp>
        <p:nvSpPr>
          <p:cNvPr id="4" name="ZoneTexte 3">
            <a:extLst>
              <a:ext uri="{FF2B5EF4-FFF2-40B4-BE49-F238E27FC236}">
                <a16:creationId xmlns:a16="http://schemas.microsoft.com/office/drawing/2014/main" id="{22C098CC-254D-2C70-6B8B-126699181517}"/>
              </a:ext>
            </a:extLst>
          </p:cNvPr>
          <p:cNvSpPr txBox="1"/>
          <p:nvPr/>
        </p:nvSpPr>
        <p:spPr>
          <a:xfrm>
            <a:off x="1876423" y="1611443"/>
            <a:ext cx="8791575" cy="954107"/>
          </a:xfrm>
          <a:prstGeom prst="rect">
            <a:avLst/>
          </a:prstGeom>
          <a:noFill/>
        </p:spPr>
        <p:txBody>
          <a:bodyPr wrap="square" rtlCol="0">
            <a:spAutoFit/>
          </a:bodyPr>
          <a:lstStyle/>
          <a:p>
            <a:pPr algn="ctr"/>
            <a:r>
              <a:rPr lang="fr-FR" sz="2800" dirty="0"/>
              <a:t>(Mise en place d’un pipeline avec </a:t>
            </a:r>
            <a:r>
              <a:rPr lang="fr-FR" sz="2800" dirty="0" err="1"/>
              <a:t>Streamlit</a:t>
            </a:r>
            <a:r>
              <a:rPr lang="fr-FR" sz="2800" dirty="0"/>
              <a:t> – </a:t>
            </a:r>
            <a:r>
              <a:rPr lang="fr-FR" sz="2800" dirty="0" err="1"/>
              <a:t>Postgres</a:t>
            </a:r>
            <a:r>
              <a:rPr lang="fr-FR" sz="2800" dirty="0"/>
              <a:t> - </a:t>
            </a:r>
            <a:r>
              <a:rPr lang="fr-FR" sz="2800" dirty="0" err="1"/>
              <a:t>Airflow</a:t>
            </a:r>
            <a:r>
              <a:rPr lang="fr-FR" sz="2800" dirty="0"/>
              <a:t> – DBT – </a:t>
            </a:r>
            <a:r>
              <a:rPr lang="fr-FR" sz="2800" dirty="0" err="1"/>
              <a:t>Snowflake</a:t>
            </a:r>
            <a:r>
              <a:rPr lang="fr-FR" sz="2800" dirty="0"/>
              <a:t> – Power BI)</a:t>
            </a:r>
          </a:p>
        </p:txBody>
      </p:sp>
      <p:pic>
        <p:nvPicPr>
          <p:cNvPr id="6" name="Image 5">
            <a:extLst>
              <a:ext uri="{FF2B5EF4-FFF2-40B4-BE49-F238E27FC236}">
                <a16:creationId xmlns:a16="http://schemas.microsoft.com/office/drawing/2014/main" id="{041FB364-0C06-59A5-7740-097EF15244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Tree>
    <p:extLst>
      <p:ext uri="{BB962C8B-B14F-4D97-AF65-F5344CB8AC3E}">
        <p14:creationId xmlns:p14="http://schemas.microsoft.com/office/powerpoint/2010/main" val="242643129"/>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855A1-19F0-CFBE-AB48-DA038480431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D43D356-F3DB-B47C-FFCB-319F54BC0FBB}"/>
              </a:ext>
            </a:extLst>
          </p:cNvPr>
          <p:cNvSpPr>
            <a:spLocks noGrp="1"/>
          </p:cNvSpPr>
          <p:nvPr>
            <p:ph type="ctrTitle"/>
          </p:nvPr>
        </p:nvSpPr>
        <p:spPr>
          <a:xfrm>
            <a:off x="2507226" y="194462"/>
            <a:ext cx="8391832" cy="769127"/>
          </a:xfrm>
        </p:spPr>
        <p:txBody>
          <a:bodyPr>
            <a:noAutofit/>
          </a:bodyPr>
          <a:lstStyle/>
          <a:p>
            <a:pPr algn="ctr"/>
            <a:r>
              <a:rPr lang="fr-FR" b="1" dirty="0"/>
              <a:t>SYSTEME DE VENTE DES LIVRES</a:t>
            </a:r>
          </a:p>
        </p:txBody>
      </p:sp>
      <p:sp>
        <p:nvSpPr>
          <p:cNvPr id="8" name="ZoneTexte 7">
            <a:extLst>
              <a:ext uri="{FF2B5EF4-FFF2-40B4-BE49-F238E27FC236}">
                <a16:creationId xmlns:a16="http://schemas.microsoft.com/office/drawing/2014/main" id="{C19F89E3-C2FD-631D-528D-6393FC287289}"/>
              </a:ext>
            </a:extLst>
          </p:cNvPr>
          <p:cNvSpPr txBox="1"/>
          <p:nvPr/>
        </p:nvSpPr>
        <p:spPr>
          <a:xfrm>
            <a:off x="452286" y="1761288"/>
            <a:ext cx="4468760" cy="2862322"/>
          </a:xfrm>
          <a:prstGeom prst="rect">
            <a:avLst/>
          </a:prstGeom>
          <a:noFill/>
        </p:spPr>
        <p:txBody>
          <a:bodyPr wrap="square">
            <a:spAutoFit/>
          </a:bodyPr>
          <a:lstStyle/>
          <a:p>
            <a:pPr algn="just"/>
            <a:r>
              <a:rPr lang="fr-FR" sz="2000" b="1" dirty="0">
                <a:solidFill>
                  <a:schemeClr val="bg1"/>
                </a:solidFill>
              </a:rPr>
              <a:t>Dans le cadre de la réalisation de notre projet, nous avons pris l’option de la conteneurisation dont le but de tous garder le même modèle, les mêmes versions et configurations qu’importe l’OS utilisé. Cette démarche vise à garantir la stabilité du programme et à éviter les problèmes de cassures de version.</a:t>
            </a:r>
          </a:p>
        </p:txBody>
      </p:sp>
      <p:sp>
        <p:nvSpPr>
          <p:cNvPr id="10" name="ZoneTexte 9">
            <a:extLst>
              <a:ext uri="{FF2B5EF4-FFF2-40B4-BE49-F238E27FC236}">
                <a16:creationId xmlns:a16="http://schemas.microsoft.com/office/drawing/2014/main" id="{8B283712-0D3E-1B97-0F61-859B486FAAA3}"/>
              </a:ext>
            </a:extLst>
          </p:cNvPr>
          <p:cNvSpPr txBox="1"/>
          <p:nvPr/>
        </p:nvSpPr>
        <p:spPr>
          <a:xfrm>
            <a:off x="452286" y="1155319"/>
            <a:ext cx="4748978" cy="523220"/>
          </a:xfrm>
          <a:prstGeom prst="rect">
            <a:avLst/>
          </a:prstGeom>
          <a:noFill/>
        </p:spPr>
        <p:txBody>
          <a:bodyPr wrap="square">
            <a:spAutoFit/>
          </a:bodyPr>
          <a:lstStyle/>
          <a:p>
            <a:pPr algn="just"/>
            <a:r>
              <a:rPr lang="fr-FR" sz="2800" b="1" dirty="0"/>
              <a:t>Choix de la conteneurisation</a:t>
            </a:r>
          </a:p>
        </p:txBody>
      </p:sp>
      <p:sp>
        <p:nvSpPr>
          <p:cNvPr id="12" name="ZoneTexte 11">
            <a:extLst>
              <a:ext uri="{FF2B5EF4-FFF2-40B4-BE49-F238E27FC236}">
                <a16:creationId xmlns:a16="http://schemas.microsoft.com/office/drawing/2014/main" id="{1AB06BA6-2398-AE06-29EB-AA1299BE3B47}"/>
              </a:ext>
            </a:extLst>
          </p:cNvPr>
          <p:cNvSpPr txBox="1"/>
          <p:nvPr/>
        </p:nvSpPr>
        <p:spPr>
          <a:xfrm>
            <a:off x="6071420" y="1155319"/>
            <a:ext cx="4626076" cy="523220"/>
          </a:xfrm>
          <a:prstGeom prst="rect">
            <a:avLst/>
          </a:prstGeom>
          <a:noFill/>
        </p:spPr>
        <p:txBody>
          <a:bodyPr wrap="square">
            <a:spAutoFit/>
          </a:bodyPr>
          <a:lstStyle/>
          <a:p>
            <a:pPr algn="just"/>
            <a:r>
              <a:rPr lang="fr-FR" sz="2800" b="1" dirty="0"/>
              <a:t>Plan de travail</a:t>
            </a:r>
          </a:p>
        </p:txBody>
      </p:sp>
      <p:sp>
        <p:nvSpPr>
          <p:cNvPr id="14" name="ZoneTexte 13">
            <a:extLst>
              <a:ext uri="{FF2B5EF4-FFF2-40B4-BE49-F238E27FC236}">
                <a16:creationId xmlns:a16="http://schemas.microsoft.com/office/drawing/2014/main" id="{F28F6754-5D84-33B3-F3B4-877EF1B1712C}"/>
              </a:ext>
            </a:extLst>
          </p:cNvPr>
          <p:cNvSpPr txBox="1"/>
          <p:nvPr/>
        </p:nvSpPr>
        <p:spPr>
          <a:xfrm>
            <a:off x="5201264" y="1761288"/>
            <a:ext cx="6990736" cy="4979825"/>
          </a:xfrm>
          <a:prstGeom prst="rect">
            <a:avLst/>
          </a:prstGeom>
          <a:noFill/>
        </p:spPr>
        <p:txBody>
          <a:bodyPr wrap="square">
            <a:spAutoFit/>
          </a:bodyPr>
          <a:lstStyle/>
          <a:p>
            <a:pPr algn="just"/>
            <a:r>
              <a:rPr lang="fr-FR" sz="2000" b="1" dirty="0">
                <a:solidFill>
                  <a:schemeClr val="bg1"/>
                </a:solidFill>
              </a:rPr>
              <a:t>Pour mener à bien notre projet nous l’avons scindé en plusieurs phases à savoir :</a:t>
            </a:r>
          </a:p>
          <a:p>
            <a:pPr algn="just"/>
            <a:endParaRPr lang="fr-FR" sz="1050" b="1" dirty="0">
              <a:solidFill>
                <a:schemeClr val="bg1"/>
              </a:solidFill>
            </a:endParaRPr>
          </a:p>
          <a:p>
            <a:pPr marL="342900" indent="-342900" algn="just">
              <a:lnSpc>
                <a:spcPct val="150000"/>
              </a:lnSpc>
              <a:buFont typeface="+mj-lt"/>
              <a:buAutoNum type="arabicPeriod"/>
            </a:pPr>
            <a:r>
              <a:rPr lang="fr-FR" b="1" dirty="0">
                <a:solidFill>
                  <a:schemeClr val="bg1"/>
                </a:solidFill>
              </a:rPr>
              <a:t>Lancement du programme;</a:t>
            </a:r>
          </a:p>
          <a:p>
            <a:pPr marL="342900" indent="-342900" algn="just">
              <a:lnSpc>
                <a:spcPct val="150000"/>
              </a:lnSpc>
              <a:buFont typeface="+mj-lt"/>
              <a:buAutoNum type="arabicPeriod"/>
            </a:pPr>
            <a:r>
              <a:rPr lang="fr-FR" b="1" dirty="0">
                <a:solidFill>
                  <a:schemeClr val="bg1"/>
                </a:solidFill>
              </a:rPr>
              <a:t>Configuration de </a:t>
            </a:r>
            <a:r>
              <a:rPr lang="fr-FR" b="1" dirty="0" err="1">
                <a:solidFill>
                  <a:schemeClr val="bg1"/>
                </a:solidFill>
              </a:rPr>
              <a:t>airflow</a:t>
            </a:r>
            <a:r>
              <a:rPr lang="fr-FR" b="1" dirty="0">
                <a:solidFill>
                  <a:schemeClr val="bg1"/>
                </a:solidFill>
              </a:rPr>
              <a:t>;</a:t>
            </a:r>
          </a:p>
          <a:p>
            <a:pPr marL="342900" indent="-342900" algn="just">
              <a:lnSpc>
                <a:spcPct val="150000"/>
              </a:lnSpc>
              <a:buFont typeface="+mj-lt"/>
              <a:buAutoNum type="arabicPeriod"/>
            </a:pPr>
            <a:r>
              <a:rPr lang="fr-FR" b="1" dirty="0">
                <a:solidFill>
                  <a:schemeClr val="bg1"/>
                </a:solidFill>
              </a:rPr>
              <a:t>Création de la base de données et des tables dans </a:t>
            </a:r>
            <a:r>
              <a:rPr lang="fr-FR" b="1" dirty="0" err="1">
                <a:solidFill>
                  <a:schemeClr val="bg1"/>
                </a:solidFill>
              </a:rPr>
              <a:t>snowflake</a:t>
            </a:r>
            <a:r>
              <a:rPr lang="fr-FR" b="1" dirty="0">
                <a:solidFill>
                  <a:schemeClr val="bg1"/>
                </a:solidFill>
              </a:rPr>
              <a:t>;</a:t>
            </a:r>
          </a:p>
          <a:p>
            <a:pPr marL="342900" indent="-342900" algn="just">
              <a:lnSpc>
                <a:spcPct val="150000"/>
              </a:lnSpc>
              <a:buFont typeface="+mj-lt"/>
              <a:buAutoNum type="arabicPeriod"/>
            </a:pPr>
            <a:r>
              <a:rPr lang="fr-FR" b="1" dirty="0">
                <a:solidFill>
                  <a:schemeClr val="bg1"/>
                </a:solidFill>
              </a:rPr>
              <a:t>Vérification de la création des données dans la BD </a:t>
            </a:r>
            <a:r>
              <a:rPr lang="fr-FR" b="1" dirty="0" err="1">
                <a:solidFill>
                  <a:schemeClr val="bg1"/>
                </a:solidFill>
              </a:rPr>
              <a:t>Postgres</a:t>
            </a:r>
            <a:r>
              <a:rPr lang="fr-FR" b="1" dirty="0">
                <a:solidFill>
                  <a:schemeClr val="bg1"/>
                </a:solidFill>
              </a:rPr>
              <a:t> ;</a:t>
            </a:r>
          </a:p>
          <a:p>
            <a:pPr marL="342900" indent="-342900" algn="just">
              <a:lnSpc>
                <a:spcPct val="150000"/>
              </a:lnSpc>
              <a:buFont typeface="+mj-lt"/>
              <a:buAutoNum type="arabicPeriod"/>
            </a:pPr>
            <a:r>
              <a:rPr lang="fr-FR" b="1" dirty="0">
                <a:solidFill>
                  <a:schemeClr val="bg1"/>
                </a:solidFill>
              </a:rPr>
              <a:t>Création du fichier </a:t>
            </a:r>
            <a:r>
              <a:rPr lang="fr-FR" b="1" dirty="0" err="1">
                <a:solidFill>
                  <a:schemeClr val="bg1"/>
                </a:solidFill>
              </a:rPr>
              <a:t>profiles.yml</a:t>
            </a:r>
            <a:r>
              <a:rPr lang="fr-FR" b="1" dirty="0">
                <a:solidFill>
                  <a:schemeClr val="bg1"/>
                </a:solidFill>
              </a:rPr>
              <a:t> dans le container;</a:t>
            </a:r>
          </a:p>
          <a:p>
            <a:pPr marL="342900" indent="-342900" algn="just">
              <a:lnSpc>
                <a:spcPct val="150000"/>
              </a:lnSpc>
              <a:buFont typeface="+mj-lt"/>
              <a:buAutoNum type="arabicPeriod"/>
            </a:pPr>
            <a:r>
              <a:rPr lang="fr-FR" b="1" dirty="0">
                <a:solidFill>
                  <a:schemeClr val="bg1"/>
                </a:solidFill>
              </a:rPr>
              <a:t>Configuration et test de DBT;</a:t>
            </a:r>
          </a:p>
          <a:p>
            <a:pPr marL="342900" indent="-342900" algn="just">
              <a:lnSpc>
                <a:spcPct val="150000"/>
              </a:lnSpc>
              <a:buFont typeface="+mj-lt"/>
              <a:buAutoNum type="arabicPeriod"/>
            </a:pPr>
            <a:r>
              <a:rPr lang="fr-FR" b="1" dirty="0">
                <a:solidFill>
                  <a:schemeClr val="bg1"/>
                </a:solidFill>
              </a:rPr>
              <a:t> </a:t>
            </a:r>
            <a:r>
              <a:rPr lang="fr-FR" b="1" dirty="0" err="1">
                <a:solidFill>
                  <a:schemeClr val="bg1"/>
                </a:solidFill>
              </a:rPr>
              <a:t>Airflow</a:t>
            </a:r>
            <a:r>
              <a:rPr lang="fr-FR" b="1" dirty="0">
                <a:solidFill>
                  <a:schemeClr val="bg1"/>
                </a:solidFill>
              </a:rPr>
              <a:t>, l’orchestration;</a:t>
            </a:r>
          </a:p>
          <a:p>
            <a:pPr marL="342900" indent="-342900" algn="just">
              <a:lnSpc>
                <a:spcPct val="150000"/>
              </a:lnSpc>
              <a:buFont typeface="+mj-lt"/>
              <a:buAutoNum type="arabicPeriod"/>
            </a:pPr>
            <a:r>
              <a:rPr lang="fr-FR" b="1" dirty="0" err="1">
                <a:solidFill>
                  <a:schemeClr val="bg1"/>
                </a:solidFill>
              </a:rPr>
              <a:t>Snowflake</a:t>
            </a:r>
            <a:r>
              <a:rPr lang="fr-FR" b="1" dirty="0">
                <a:solidFill>
                  <a:schemeClr val="bg1"/>
                </a:solidFill>
              </a:rPr>
              <a:t> et streamlit;</a:t>
            </a:r>
          </a:p>
          <a:p>
            <a:pPr marL="342900" indent="-342900" algn="just">
              <a:lnSpc>
                <a:spcPct val="150000"/>
              </a:lnSpc>
              <a:buFont typeface="+mj-lt"/>
              <a:buAutoNum type="arabicPeriod"/>
            </a:pPr>
            <a:r>
              <a:rPr lang="fr-FR" b="1" dirty="0">
                <a:solidFill>
                  <a:schemeClr val="bg1"/>
                </a:solidFill>
              </a:rPr>
              <a:t> </a:t>
            </a:r>
            <a:r>
              <a:rPr lang="fr-FR" b="1" dirty="0" err="1">
                <a:solidFill>
                  <a:schemeClr val="bg1"/>
                </a:solidFill>
              </a:rPr>
              <a:t>PowerBI</a:t>
            </a:r>
            <a:r>
              <a:rPr lang="fr-FR" b="1" dirty="0">
                <a:solidFill>
                  <a:schemeClr val="bg1"/>
                </a:solidFill>
              </a:rPr>
              <a:t> </a:t>
            </a:r>
          </a:p>
          <a:p>
            <a:pPr marL="342900" indent="-342900" algn="just">
              <a:lnSpc>
                <a:spcPct val="150000"/>
              </a:lnSpc>
              <a:buFont typeface="+mj-lt"/>
              <a:buAutoNum type="arabicPeriod"/>
            </a:pPr>
            <a:r>
              <a:rPr lang="fr-FR" b="1" dirty="0">
                <a:solidFill>
                  <a:schemeClr val="bg1"/>
                </a:solidFill>
              </a:rPr>
              <a:t>Résumé du processus</a:t>
            </a:r>
          </a:p>
        </p:txBody>
      </p:sp>
      <p:pic>
        <p:nvPicPr>
          <p:cNvPr id="20" name="Image 19">
            <a:extLst>
              <a:ext uri="{FF2B5EF4-FFF2-40B4-BE49-F238E27FC236}">
                <a16:creationId xmlns:a16="http://schemas.microsoft.com/office/drawing/2014/main" id="{BD79ACB5-2E3F-708B-871E-5EE31AAF8D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Tree>
    <p:extLst>
      <p:ext uri="{BB962C8B-B14F-4D97-AF65-F5344CB8AC3E}">
        <p14:creationId xmlns:p14="http://schemas.microsoft.com/office/powerpoint/2010/main" val="3788878569"/>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2CEBF-0CFD-2318-B2A9-513D95958E1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951C48B-E1F2-FE12-A006-7D8E22A2C2BB}"/>
              </a:ext>
            </a:extLst>
          </p:cNvPr>
          <p:cNvSpPr>
            <a:spLocks noGrp="1"/>
          </p:cNvSpPr>
          <p:nvPr>
            <p:ph type="ctrTitle"/>
          </p:nvPr>
        </p:nvSpPr>
        <p:spPr>
          <a:xfrm>
            <a:off x="722672" y="1019093"/>
            <a:ext cx="4952078" cy="439170"/>
          </a:xfrm>
        </p:spPr>
        <p:txBody>
          <a:bodyPr>
            <a:noAutofit/>
          </a:bodyPr>
          <a:lstStyle/>
          <a:p>
            <a:pPr algn="ctr"/>
            <a:r>
              <a:rPr lang="fr-FR" sz="2800" b="1" dirty="0"/>
              <a:t>Lancement du programme</a:t>
            </a:r>
            <a:endParaRPr lang="fr-FR" sz="2800" dirty="0"/>
          </a:p>
        </p:txBody>
      </p:sp>
      <p:sp>
        <p:nvSpPr>
          <p:cNvPr id="8" name="Titre 1">
            <a:extLst>
              <a:ext uri="{FF2B5EF4-FFF2-40B4-BE49-F238E27FC236}">
                <a16:creationId xmlns:a16="http://schemas.microsoft.com/office/drawing/2014/main" id="{8554B6B6-318D-2E41-6D2C-34AEC8DD1CE7}"/>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A0107A36-469B-1F3C-FC22-35CA4E6ABE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14" name="ZoneTexte 13">
            <a:extLst>
              <a:ext uri="{FF2B5EF4-FFF2-40B4-BE49-F238E27FC236}">
                <a16:creationId xmlns:a16="http://schemas.microsoft.com/office/drawing/2014/main" id="{FA0E01CE-9728-8F80-A0EC-7AD803CE9DF7}"/>
              </a:ext>
            </a:extLst>
          </p:cNvPr>
          <p:cNvSpPr txBox="1"/>
          <p:nvPr/>
        </p:nvSpPr>
        <p:spPr>
          <a:xfrm>
            <a:off x="0" y="1598740"/>
            <a:ext cx="3716593"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docker compose up -d</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5" name="Image 14">
            <a:extLst>
              <a:ext uri="{FF2B5EF4-FFF2-40B4-BE49-F238E27FC236}">
                <a16:creationId xmlns:a16="http://schemas.microsoft.com/office/drawing/2014/main" id="{EB7AF31C-F468-5C37-399C-3BD913ED76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147543"/>
            <a:ext cx="5412658" cy="1638100"/>
          </a:xfrm>
          <a:prstGeom prst="rect">
            <a:avLst/>
          </a:prstGeom>
          <a:ln>
            <a:solidFill>
              <a:schemeClr val="bg1">
                <a:lumMod val="85000"/>
              </a:schemeClr>
            </a:solidFill>
          </a:ln>
        </p:spPr>
      </p:pic>
      <p:sp>
        <p:nvSpPr>
          <p:cNvPr id="16" name="Titre 1">
            <a:extLst>
              <a:ext uri="{FF2B5EF4-FFF2-40B4-BE49-F238E27FC236}">
                <a16:creationId xmlns:a16="http://schemas.microsoft.com/office/drawing/2014/main" id="{E212F238-DFC0-5E43-DBA9-017A7D27A2C3}"/>
              </a:ext>
            </a:extLst>
          </p:cNvPr>
          <p:cNvSpPr txBox="1">
            <a:spLocks/>
          </p:cNvSpPr>
          <p:nvPr/>
        </p:nvSpPr>
        <p:spPr>
          <a:xfrm>
            <a:off x="6407332" y="1019093"/>
            <a:ext cx="4952078" cy="44964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sz="2800" b="1" dirty="0"/>
              <a:t>Configuration de </a:t>
            </a:r>
            <a:r>
              <a:rPr lang="fr-FR" sz="2800" b="1" dirty="0" err="1"/>
              <a:t>airflow</a:t>
            </a:r>
            <a:endParaRPr lang="fr-FR" sz="2800" b="1" dirty="0"/>
          </a:p>
        </p:txBody>
      </p:sp>
      <p:sp>
        <p:nvSpPr>
          <p:cNvPr id="17" name="Flèche : chevron 16">
            <a:extLst>
              <a:ext uri="{FF2B5EF4-FFF2-40B4-BE49-F238E27FC236}">
                <a16:creationId xmlns:a16="http://schemas.microsoft.com/office/drawing/2014/main" id="{C02C5FD4-0D66-FE91-B51F-57D6FF7E16B2}"/>
              </a:ext>
            </a:extLst>
          </p:cNvPr>
          <p:cNvSpPr/>
          <p:nvPr/>
        </p:nvSpPr>
        <p:spPr>
          <a:xfrm>
            <a:off x="5942142" y="1050937"/>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19" name="ZoneTexte 18">
            <a:extLst>
              <a:ext uri="{FF2B5EF4-FFF2-40B4-BE49-F238E27FC236}">
                <a16:creationId xmlns:a16="http://schemas.microsoft.com/office/drawing/2014/main" id="{761C4302-215A-167E-C10E-939F4CE93FDF}"/>
              </a:ext>
            </a:extLst>
          </p:cNvPr>
          <p:cNvSpPr txBox="1"/>
          <p:nvPr/>
        </p:nvSpPr>
        <p:spPr>
          <a:xfrm>
            <a:off x="5997602" y="1558940"/>
            <a:ext cx="1801145" cy="305661"/>
          </a:xfrm>
          <a:prstGeom prst="rect">
            <a:avLst/>
          </a:prstGeom>
          <a:solidFill>
            <a:schemeClr val="tx1">
              <a:lumMod val="85000"/>
            </a:schemeClr>
          </a:solidFill>
        </p:spPr>
        <p:txBody>
          <a:bodyPr wrap="square">
            <a:spAutoFit/>
          </a:bodyPr>
          <a:lstStyle/>
          <a:p>
            <a:pPr>
              <a:lnSpc>
                <a:spcPct val="107000"/>
              </a:lnSpc>
              <a:spcAft>
                <a:spcPts val="800"/>
              </a:spcAft>
              <a:buNone/>
            </a:pPr>
            <a:r>
              <a:rPr lang="fr-FR" sz="1400" u="sng" kern="100" dirty="0">
                <a:solidFill>
                  <a:schemeClr val="bg1"/>
                </a:solidFill>
                <a:effectLst/>
                <a:latin typeface="Arial Nova" panose="020B0504020202020204" pitchFamily="34" charset="0"/>
                <a:ea typeface="Calibri" panose="020F050202020403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http://localhost:8080</a:t>
            </a:r>
            <a:endParaRPr lang="fr-FR" sz="1200" kern="100" dirty="0">
              <a:solidFill>
                <a:schemeClr val="bg1"/>
              </a:solidFill>
              <a:effectLst/>
              <a:latin typeface="Century Gothic" panose="020B0502020202020204" pitchFamily="34" charset="0"/>
              <a:ea typeface="Calibri" panose="020F0502020204030204" pitchFamily="34" charset="0"/>
              <a:cs typeface="Arial" panose="020B0604020202020204" pitchFamily="34" charset="0"/>
            </a:endParaRPr>
          </a:p>
        </p:txBody>
      </p:sp>
      <p:sp>
        <p:nvSpPr>
          <p:cNvPr id="21" name="ZoneTexte 20">
            <a:extLst>
              <a:ext uri="{FF2B5EF4-FFF2-40B4-BE49-F238E27FC236}">
                <a16:creationId xmlns:a16="http://schemas.microsoft.com/office/drawing/2014/main" id="{4C15BAEB-E95D-25F7-CC7B-1FD87564146D}"/>
              </a:ext>
            </a:extLst>
          </p:cNvPr>
          <p:cNvSpPr txBox="1"/>
          <p:nvPr/>
        </p:nvSpPr>
        <p:spPr>
          <a:xfrm>
            <a:off x="8095253" y="1558363"/>
            <a:ext cx="3648074" cy="305661"/>
          </a:xfrm>
          <a:prstGeom prst="rect">
            <a:avLst/>
          </a:prstGeom>
          <a:solidFill>
            <a:schemeClr val="tx1">
              <a:lumMod val="85000"/>
            </a:schemeClr>
          </a:solidFill>
        </p:spPr>
        <p:txBody>
          <a:bodyPr wrap="square">
            <a:spAutoFit/>
          </a:bodyPr>
          <a:lstStyle/>
          <a:p>
            <a:pPr>
              <a:lnSpc>
                <a:spcPct val="107000"/>
              </a:lnSpc>
              <a:spcAft>
                <a:spcPts val="800"/>
              </a:spcAft>
              <a:buNone/>
            </a:pPr>
            <a:r>
              <a:rPr lang="fr-FR" sz="14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Login : admin</a:t>
            </a:r>
            <a:r>
              <a:rPr lang="fr-FR" sz="1400" kern="100" dirty="0">
                <a:solidFill>
                  <a:srgbClr val="000000"/>
                </a:solidFill>
                <a:latin typeface="Century Gothic" panose="020B0502020202020204" pitchFamily="34" charset="0"/>
                <a:ea typeface="Calibri" panose="020F0502020204030204" pitchFamily="34" charset="0"/>
                <a:cs typeface="Arial" panose="020B0604020202020204" pitchFamily="34" charset="0"/>
              </a:rPr>
              <a:t>  </a:t>
            </a:r>
            <a:r>
              <a:rPr lang="fr-FR" sz="14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password</a:t>
            </a:r>
            <a:r>
              <a:rPr lang="fr-FR" sz="14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 admin123</a:t>
            </a:r>
            <a:endParaRPr lang="fr-FR" sz="14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22" name="Image 21">
            <a:extLst>
              <a:ext uri="{FF2B5EF4-FFF2-40B4-BE49-F238E27FC236}">
                <a16:creationId xmlns:a16="http://schemas.microsoft.com/office/drawing/2014/main" id="{D0A03995-D50B-7377-488E-8DE0CCD53DD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942142" y="2044889"/>
            <a:ext cx="6081401" cy="1975981"/>
          </a:xfrm>
          <a:prstGeom prst="rect">
            <a:avLst/>
          </a:prstGeom>
          <a:ln>
            <a:solidFill>
              <a:schemeClr val="bg1">
                <a:lumMod val="85000"/>
              </a:schemeClr>
            </a:solidFill>
          </a:ln>
        </p:spPr>
      </p:pic>
      <p:pic>
        <p:nvPicPr>
          <p:cNvPr id="23" name="Image 22">
            <a:extLst>
              <a:ext uri="{FF2B5EF4-FFF2-40B4-BE49-F238E27FC236}">
                <a16:creationId xmlns:a16="http://schemas.microsoft.com/office/drawing/2014/main" id="{039D36DA-5577-7445-3484-BB504C7AB0C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942141" y="4201158"/>
            <a:ext cx="6081402" cy="2314575"/>
          </a:xfrm>
          <a:prstGeom prst="rect">
            <a:avLst/>
          </a:prstGeom>
          <a:ln>
            <a:solidFill>
              <a:schemeClr val="bg1">
                <a:lumMod val="85000"/>
              </a:schemeClr>
            </a:solidFill>
          </a:ln>
        </p:spPr>
      </p:pic>
      <p:sp>
        <p:nvSpPr>
          <p:cNvPr id="25" name="Flèche : chevron 24">
            <a:extLst>
              <a:ext uri="{FF2B5EF4-FFF2-40B4-BE49-F238E27FC236}">
                <a16:creationId xmlns:a16="http://schemas.microsoft.com/office/drawing/2014/main" id="{C9DB80B6-D341-86D6-5359-D6D0FB75361B}"/>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Tree>
    <p:extLst>
      <p:ext uri="{BB962C8B-B14F-4D97-AF65-F5344CB8AC3E}">
        <p14:creationId xmlns:p14="http://schemas.microsoft.com/office/powerpoint/2010/main" val="220148544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872BE-C9DE-43C3-D033-A77E25CF44F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E4C7659-B2DE-EFB6-1CC3-F4C8CDB70B64}"/>
              </a:ext>
            </a:extLst>
          </p:cNvPr>
          <p:cNvSpPr>
            <a:spLocks noGrp="1"/>
          </p:cNvSpPr>
          <p:nvPr>
            <p:ph type="ctrTitle"/>
          </p:nvPr>
        </p:nvSpPr>
        <p:spPr>
          <a:xfrm>
            <a:off x="562554" y="1154433"/>
            <a:ext cx="4922964" cy="635554"/>
          </a:xfrm>
        </p:spPr>
        <p:txBody>
          <a:bodyPr>
            <a:noAutofit/>
          </a:bodyPr>
          <a:lstStyle/>
          <a:p>
            <a:pPr algn="ctr"/>
            <a:r>
              <a:rPr lang="fr-FR" sz="2400" b="1" dirty="0"/>
              <a:t>Création de la base de données et des tables dans </a:t>
            </a:r>
            <a:r>
              <a:rPr lang="fr-FR" sz="2400" b="1" dirty="0" err="1"/>
              <a:t>snowflake</a:t>
            </a:r>
            <a:endParaRPr lang="fr-FR" sz="2400" dirty="0"/>
          </a:p>
        </p:txBody>
      </p:sp>
      <p:sp>
        <p:nvSpPr>
          <p:cNvPr id="8" name="Titre 1">
            <a:extLst>
              <a:ext uri="{FF2B5EF4-FFF2-40B4-BE49-F238E27FC236}">
                <a16:creationId xmlns:a16="http://schemas.microsoft.com/office/drawing/2014/main" id="{95C0C275-FE82-545A-7FC6-F0F928F0E9D6}"/>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627D38E1-EAE8-4444-567B-4672224B67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14" name="ZoneTexte 13">
            <a:extLst>
              <a:ext uri="{FF2B5EF4-FFF2-40B4-BE49-F238E27FC236}">
                <a16:creationId xmlns:a16="http://schemas.microsoft.com/office/drawing/2014/main" id="{B7E9BABF-7C08-D9EB-51DD-B8D76E232432}"/>
              </a:ext>
            </a:extLst>
          </p:cNvPr>
          <p:cNvSpPr txBox="1"/>
          <p:nvPr/>
        </p:nvSpPr>
        <p:spPr>
          <a:xfrm>
            <a:off x="0" y="2044889"/>
            <a:ext cx="5412657" cy="365869"/>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DROP DATABASE IF EXISTS BOOKSHOP</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6" name="Titre 1">
            <a:extLst>
              <a:ext uri="{FF2B5EF4-FFF2-40B4-BE49-F238E27FC236}">
                <a16:creationId xmlns:a16="http://schemas.microsoft.com/office/drawing/2014/main" id="{AB26893A-AD05-104C-9538-C5B54311FB1C}"/>
              </a:ext>
            </a:extLst>
          </p:cNvPr>
          <p:cNvSpPr txBox="1">
            <a:spLocks/>
          </p:cNvSpPr>
          <p:nvPr/>
        </p:nvSpPr>
        <p:spPr>
          <a:xfrm>
            <a:off x="6519018" y="816420"/>
            <a:ext cx="5004388" cy="866667"/>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sz="2400" b="1" dirty="0"/>
              <a:t>Vérification de la création des données dans la BD </a:t>
            </a:r>
            <a:r>
              <a:rPr lang="fr-FR" sz="2400" b="1" dirty="0" err="1"/>
              <a:t>Postgres</a:t>
            </a:r>
            <a:endParaRPr lang="fr-FR" sz="2400" b="1" dirty="0"/>
          </a:p>
        </p:txBody>
      </p:sp>
      <p:sp>
        <p:nvSpPr>
          <p:cNvPr id="17" name="Flèche : chevron 16">
            <a:extLst>
              <a:ext uri="{FF2B5EF4-FFF2-40B4-BE49-F238E27FC236}">
                <a16:creationId xmlns:a16="http://schemas.microsoft.com/office/drawing/2014/main" id="{98C98E5D-FF36-BDFD-F5AA-361F477BEB9A}"/>
              </a:ext>
            </a:extLst>
          </p:cNvPr>
          <p:cNvSpPr/>
          <p:nvPr/>
        </p:nvSpPr>
        <p:spPr>
          <a:xfrm>
            <a:off x="5942142" y="1050937"/>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25" name="Flèche : chevron 24">
            <a:extLst>
              <a:ext uri="{FF2B5EF4-FFF2-40B4-BE49-F238E27FC236}">
                <a16:creationId xmlns:a16="http://schemas.microsoft.com/office/drawing/2014/main" id="{C7489C82-9BCD-ACB9-3015-B7DB86986568}"/>
              </a:ext>
            </a:extLst>
          </p:cNvPr>
          <p:cNvSpPr/>
          <p:nvPr/>
        </p:nvSpPr>
        <p:spPr>
          <a:xfrm>
            <a:off x="145796" y="1243917"/>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3" name="Image 2">
            <a:extLst>
              <a:ext uri="{FF2B5EF4-FFF2-40B4-BE49-F238E27FC236}">
                <a16:creationId xmlns:a16="http://schemas.microsoft.com/office/drawing/2014/main" id="{B0282DB8-C6B8-D29C-3BBC-6DB96AE355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2551235"/>
            <a:ext cx="5412656" cy="2515235"/>
          </a:xfrm>
          <a:prstGeom prst="rect">
            <a:avLst/>
          </a:prstGeom>
          <a:ln>
            <a:solidFill>
              <a:schemeClr val="bg1">
                <a:lumMod val="85000"/>
              </a:schemeClr>
            </a:solidFill>
          </a:ln>
        </p:spPr>
      </p:pic>
      <p:sp>
        <p:nvSpPr>
          <p:cNvPr id="5" name="ZoneTexte 4">
            <a:extLst>
              <a:ext uri="{FF2B5EF4-FFF2-40B4-BE49-F238E27FC236}">
                <a16:creationId xmlns:a16="http://schemas.microsoft.com/office/drawing/2014/main" id="{343B324D-8DF7-7557-7987-47ECBD6F10C3}"/>
              </a:ext>
            </a:extLst>
          </p:cNvPr>
          <p:cNvSpPr txBox="1"/>
          <p:nvPr/>
        </p:nvSpPr>
        <p:spPr>
          <a:xfrm>
            <a:off x="5942142" y="1867357"/>
            <a:ext cx="4922964" cy="365869"/>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docker exec -it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postgres_bookshop</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bash</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7" name="ZoneTexte 6">
            <a:extLst>
              <a:ext uri="{FF2B5EF4-FFF2-40B4-BE49-F238E27FC236}">
                <a16:creationId xmlns:a16="http://schemas.microsoft.com/office/drawing/2014/main" id="{B38A76DC-A061-DD49-1A6A-58BC1D425143}"/>
              </a:ext>
            </a:extLst>
          </p:cNvPr>
          <p:cNvSpPr txBox="1"/>
          <p:nvPr/>
        </p:nvSpPr>
        <p:spPr>
          <a:xfrm>
            <a:off x="5942142" y="2427541"/>
            <a:ext cx="2937158"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psql</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-U user -d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bookshop</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0" name="ZoneTexte 9">
            <a:extLst>
              <a:ext uri="{FF2B5EF4-FFF2-40B4-BE49-F238E27FC236}">
                <a16:creationId xmlns:a16="http://schemas.microsoft.com/office/drawing/2014/main" id="{D57DF2DA-2EE5-EDD1-C4DE-AC3BF48D285D}"/>
              </a:ext>
            </a:extLst>
          </p:cNvPr>
          <p:cNvSpPr txBox="1"/>
          <p:nvPr/>
        </p:nvSpPr>
        <p:spPr>
          <a:xfrm>
            <a:off x="5942142" y="2987725"/>
            <a:ext cx="2937158"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\l</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3" name="ZoneTexte 12">
            <a:extLst>
              <a:ext uri="{FF2B5EF4-FFF2-40B4-BE49-F238E27FC236}">
                <a16:creationId xmlns:a16="http://schemas.microsoft.com/office/drawing/2014/main" id="{C2D272D4-AC28-33EE-4A07-63A686C1C6D7}"/>
              </a:ext>
            </a:extLst>
          </p:cNvPr>
          <p:cNvSpPr txBox="1"/>
          <p:nvPr/>
        </p:nvSpPr>
        <p:spPr>
          <a:xfrm>
            <a:off x="5942142" y="3504407"/>
            <a:ext cx="2464439"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dn</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8" name="Image 17">
            <a:extLst>
              <a:ext uri="{FF2B5EF4-FFF2-40B4-BE49-F238E27FC236}">
                <a16:creationId xmlns:a16="http://schemas.microsoft.com/office/drawing/2014/main" id="{4663E9F7-DCD8-3284-CD80-6E53FC54C4C3}"/>
              </a:ext>
            </a:extLst>
          </p:cNvPr>
          <p:cNvPicPr>
            <a:picLocks noChangeAspect="1"/>
          </p:cNvPicPr>
          <p:nvPr/>
        </p:nvPicPr>
        <p:blipFill>
          <a:blip r:embed="rId4"/>
          <a:stretch>
            <a:fillRect/>
          </a:stretch>
        </p:blipFill>
        <p:spPr>
          <a:xfrm>
            <a:off x="5942141" y="4021089"/>
            <a:ext cx="6249857" cy="2836911"/>
          </a:xfrm>
          <a:prstGeom prst="rect">
            <a:avLst/>
          </a:prstGeom>
          <a:ln>
            <a:solidFill>
              <a:schemeClr val="bg1">
                <a:lumMod val="85000"/>
              </a:schemeClr>
            </a:solidFill>
          </a:ln>
        </p:spPr>
      </p:pic>
      <p:sp>
        <p:nvSpPr>
          <p:cNvPr id="24" name="ZoneTexte 23">
            <a:extLst>
              <a:ext uri="{FF2B5EF4-FFF2-40B4-BE49-F238E27FC236}">
                <a16:creationId xmlns:a16="http://schemas.microsoft.com/office/drawing/2014/main" id="{546D3F8E-2686-A646-FC64-7BFEA1AC797C}"/>
              </a:ext>
            </a:extLst>
          </p:cNvPr>
          <p:cNvSpPr txBox="1"/>
          <p:nvPr/>
        </p:nvSpPr>
        <p:spPr>
          <a:xfrm>
            <a:off x="9021212" y="2435055"/>
            <a:ext cx="1843548"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raw.*</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27" name="ZoneTexte 26">
            <a:extLst>
              <a:ext uri="{FF2B5EF4-FFF2-40B4-BE49-F238E27FC236}">
                <a16:creationId xmlns:a16="http://schemas.microsoft.com/office/drawing/2014/main" id="{83496306-3410-CFC5-30FF-684C30561E62}"/>
              </a:ext>
            </a:extLst>
          </p:cNvPr>
          <p:cNvSpPr txBox="1"/>
          <p:nvPr/>
        </p:nvSpPr>
        <p:spPr>
          <a:xfrm>
            <a:off x="998" y="5500449"/>
            <a:ext cx="5676401" cy="1357551"/>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raw.category</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 Affiche la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scrtucture</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de la table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category</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 raw.*	#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Affichiche</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la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sctructure</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de toutes les tables</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29" name="ZoneTexte 28">
            <a:extLst>
              <a:ext uri="{FF2B5EF4-FFF2-40B4-BE49-F238E27FC236}">
                <a16:creationId xmlns:a16="http://schemas.microsoft.com/office/drawing/2014/main" id="{9DD73E3E-4D71-DEDF-4CD1-274187FE38FC}"/>
              </a:ext>
            </a:extLst>
          </p:cNvPr>
          <p:cNvSpPr txBox="1"/>
          <p:nvPr/>
        </p:nvSpPr>
        <p:spPr>
          <a:xfrm>
            <a:off x="8552608" y="3497776"/>
            <a:ext cx="3528054"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SELECT * FROM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raw.category</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2084887020"/>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35CF9-AB26-D73C-575E-E8EC7F386AB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8A55D8F-09DB-46ED-A01E-1A1CB233674D}"/>
              </a:ext>
            </a:extLst>
          </p:cNvPr>
          <p:cNvSpPr>
            <a:spLocks noGrp="1"/>
          </p:cNvSpPr>
          <p:nvPr>
            <p:ph type="ctrTitle"/>
          </p:nvPr>
        </p:nvSpPr>
        <p:spPr>
          <a:xfrm>
            <a:off x="624275" y="1243917"/>
            <a:ext cx="5140732" cy="489342"/>
          </a:xfrm>
        </p:spPr>
        <p:txBody>
          <a:bodyPr>
            <a:noAutofit/>
          </a:bodyPr>
          <a:lstStyle/>
          <a:p>
            <a:pPr algn="ctr"/>
            <a:r>
              <a:rPr lang="fr-FR" sz="2400" b="1" dirty="0"/>
              <a:t>Création du fichier </a:t>
            </a:r>
            <a:r>
              <a:rPr lang="fr-FR" sz="2400" b="1" dirty="0" err="1"/>
              <a:t>profiles.yml</a:t>
            </a:r>
            <a:r>
              <a:rPr lang="fr-FR" sz="2400" b="1" dirty="0"/>
              <a:t> dans le container</a:t>
            </a:r>
            <a:endParaRPr lang="fr-FR" sz="2400" dirty="0"/>
          </a:p>
        </p:txBody>
      </p:sp>
      <p:sp>
        <p:nvSpPr>
          <p:cNvPr id="8" name="Titre 1">
            <a:extLst>
              <a:ext uri="{FF2B5EF4-FFF2-40B4-BE49-F238E27FC236}">
                <a16:creationId xmlns:a16="http://schemas.microsoft.com/office/drawing/2014/main" id="{14055050-C21D-FD29-97AF-50C16EFAEC27}"/>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B556C242-A195-5D1C-7D95-F08C45C8EB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25" name="Flèche : chevron 24">
            <a:extLst>
              <a:ext uri="{FF2B5EF4-FFF2-40B4-BE49-F238E27FC236}">
                <a16:creationId xmlns:a16="http://schemas.microsoft.com/office/drawing/2014/main" id="{9682072F-52D8-BD3D-E9E1-9188C19393E9}"/>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4" name="ZoneTexte 3">
            <a:extLst>
              <a:ext uri="{FF2B5EF4-FFF2-40B4-BE49-F238E27FC236}">
                <a16:creationId xmlns:a16="http://schemas.microsoft.com/office/drawing/2014/main" id="{D30B7510-D501-C0D2-53B5-8B19B92BFDAE}"/>
              </a:ext>
            </a:extLst>
          </p:cNvPr>
          <p:cNvSpPr txBox="1"/>
          <p:nvPr/>
        </p:nvSpPr>
        <p:spPr>
          <a:xfrm>
            <a:off x="0" y="1898648"/>
            <a:ext cx="5765007" cy="662233"/>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docker exec -it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airflow_exam</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bash -c "cd /opt/airflow/</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&amp;&amp;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init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exam_tech_bigdata</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6" name="ZoneTexte 5">
            <a:extLst>
              <a:ext uri="{FF2B5EF4-FFF2-40B4-BE49-F238E27FC236}">
                <a16:creationId xmlns:a16="http://schemas.microsoft.com/office/drawing/2014/main" id="{E61EBDAF-E125-FAF6-9BB8-B2D0BC7EE4D0}"/>
              </a:ext>
            </a:extLst>
          </p:cNvPr>
          <p:cNvSpPr txBox="1"/>
          <p:nvPr/>
        </p:nvSpPr>
        <p:spPr>
          <a:xfrm>
            <a:off x="0" y="2765240"/>
            <a:ext cx="5765007"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docker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exec</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it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airflow_exam</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bash</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9" name="ZoneTexte 8">
            <a:extLst>
              <a:ext uri="{FF2B5EF4-FFF2-40B4-BE49-F238E27FC236}">
                <a16:creationId xmlns:a16="http://schemas.microsoft.com/office/drawing/2014/main" id="{0E7B08D6-0FEF-AE2F-62B3-4B7C4A0B89E8}"/>
              </a:ext>
            </a:extLst>
          </p:cNvPr>
          <p:cNvSpPr txBox="1"/>
          <p:nvPr/>
        </p:nvSpPr>
        <p:spPr>
          <a:xfrm>
            <a:off x="-1" y="3338900"/>
            <a:ext cx="5765007" cy="365869"/>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cd /opt/airflow/</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exam_tech_bigdata</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1" name="ZoneTexte 10">
            <a:extLst>
              <a:ext uri="{FF2B5EF4-FFF2-40B4-BE49-F238E27FC236}">
                <a16:creationId xmlns:a16="http://schemas.microsoft.com/office/drawing/2014/main" id="{1F7BA3F5-E75D-168E-DC66-5A49E5D0DB06}"/>
              </a:ext>
            </a:extLst>
          </p:cNvPr>
          <p:cNvSpPr txBox="1"/>
          <p:nvPr/>
        </p:nvSpPr>
        <p:spPr>
          <a:xfrm>
            <a:off x="6064046" y="907481"/>
            <a:ext cx="6127954" cy="5951245"/>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mkdir</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-p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&amp;&amp; cat &lt;&lt; EOF &gt;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profiles.yml</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exam_tech_bigdata</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target: dev</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outputs:</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dev:</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type: snowflake</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account: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ton_id_snowflake</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user: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ton_utilisateur</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password</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ton_mot_de_passe</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role: ACCOUNTADMIN</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database: BOOKSHOP</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warehouse: COMPUTE_WH</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schema</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STAGGING</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threads: 4</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EOF</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8" name="ZoneTexte 17">
            <a:extLst>
              <a:ext uri="{FF2B5EF4-FFF2-40B4-BE49-F238E27FC236}">
                <a16:creationId xmlns:a16="http://schemas.microsoft.com/office/drawing/2014/main" id="{4CF38A16-8DA3-A19C-EA70-2981C6B807B2}"/>
              </a:ext>
            </a:extLst>
          </p:cNvPr>
          <p:cNvSpPr txBox="1"/>
          <p:nvPr/>
        </p:nvSpPr>
        <p:spPr>
          <a:xfrm>
            <a:off x="0" y="4022557"/>
            <a:ext cx="5828914"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cat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profiles.yml</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601266478"/>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4053C-83B1-FE07-70B0-62CF27390AD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DCE0D16-F672-103F-231F-74060517AAB5}"/>
              </a:ext>
            </a:extLst>
          </p:cNvPr>
          <p:cNvSpPr>
            <a:spLocks noGrp="1"/>
          </p:cNvSpPr>
          <p:nvPr>
            <p:ph type="ctrTitle"/>
          </p:nvPr>
        </p:nvSpPr>
        <p:spPr>
          <a:xfrm>
            <a:off x="624275" y="1243917"/>
            <a:ext cx="5140732" cy="489342"/>
          </a:xfrm>
        </p:spPr>
        <p:txBody>
          <a:bodyPr>
            <a:noAutofit/>
          </a:bodyPr>
          <a:lstStyle/>
          <a:p>
            <a:pPr algn="ctr"/>
            <a:r>
              <a:rPr lang="fr-FR" sz="2400" b="1" dirty="0"/>
              <a:t>Création du fichier </a:t>
            </a:r>
            <a:r>
              <a:rPr lang="fr-FR" sz="2400" b="1" dirty="0" err="1"/>
              <a:t>profiles.yml</a:t>
            </a:r>
            <a:r>
              <a:rPr lang="fr-FR" sz="2400" b="1" dirty="0"/>
              <a:t> dans le container</a:t>
            </a:r>
            <a:endParaRPr lang="fr-FR" sz="2400" dirty="0"/>
          </a:p>
        </p:txBody>
      </p:sp>
      <p:sp>
        <p:nvSpPr>
          <p:cNvPr id="8" name="Titre 1">
            <a:extLst>
              <a:ext uri="{FF2B5EF4-FFF2-40B4-BE49-F238E27FC236}">
                <a16:creationId xmlns:a16="http://schemas.microsoft.com/office/drawing/2014/main" id="{6B85A9F2-8DA2-A6C9-B9EF-51CB738A1AA6}"/>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0136FC39-3F0D-11A4-8F73-A5F9F46E64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25" name="Flèche : chevron 24">
            <a:extLst>
              <a:ext uri="{FF2B5EF4-FFF2-40B4-BE49-F238E27FC236}">
                <a16:creationId xmlns:a16="http://schemas.microsoft.com/office/drawing/2014/main" id="{BE9E4D5D-7270-3FCE-9D10-28F2E008CAD7}"/>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3" name="Image 2">
            <a:extLst>
              <a:ext uri="{FF2B5EF4-FFF2-40B4-BE49-F238E27FC236}">
                <a16:creationId xmlns:a16="http://schemas.microsoft.com/office/drawing/2014/main" id="{9CB6BF3D-679E-C7A5-A2B6-CF64D39957EB}"/>
              </a:ext>
            </a:extLst>
          </p:cNvPr>
          <p:cNvPicPr>
            <a:picLocks noChangeAspect="1"/>
          </p:cNvPicPr>
          <p:nvPr/>
        </p:nvPicPr>
        <p:blipFill>
          <a:blip r:embed="rId3"/>
          <a:stretch>
            <a:fillRect/>
          </a:stretch>
        </p:blipFill>
        <p:spPr>
          <a:xfrm>
            <a:off x="2980634" y="1837970"/>
            <a:ext cx="5902811" cy="4725062"/>
          </a:xfrm>
          <a:prstGeom prst="rect">
            <a:avLst/>
          </a:prstGeom>
          <a:ln>
            <a:solidFill>
              <a:schemeClr val="bg1">
                <a:lumMod val="85000"/>
              </a:schemeClr>
            </a:solidFill>
          </a:ln>
        </p:spPr>
      </p:pic>
    </p:spTree>
    <p:extLst>
      <p:ext uri="{BB962C8B-B14F-4D97-AF65-F5344CB8AC3E}">
        <p14:creationId xmlns:p14="http://schemas.microsoft.com/office/powerpoint/2010/main" val="140951782"/>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55B2C-9684-A53B-DE12-14982360259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67481DF-A8C7-5685-B255-9CEA985AD050}"/>
              </a:ext>
            </a:extLst>
          </p:cNvPr>
          <p:cNvSpPr>
            <a:spLocks noGrp="1"/>
          </p:cNvSpPr>
          <p:nvPr>
            <p:ph type="ctrTitle"/>
          </p:nvPr>
        </p:nvSpPr>
        <p:spPr>
          <a:xfrm>
            <a:off x="770066" y="991722"/>
            <a:ext cx="4539354" cy="439170"/>
          </a:xfrm>
        </p:spPr>
        <p:txBody>
          <a:bodyPr>
            <a:noAutofit/>
          </a:bodyPr>
          <a:lstStyle/>
          <a:p>
            <a:pPr algn="ctr"/>
            <a:r>
              <a:rPr lang="fr-FR" sz="2400" b="1" dirty="0"/>
              <a:t>Configuration et test de DBT</a:t>
            </a:r>
            <a:endParaRPr lang="fr-FR" sz="2400" dirty="0"/>
          </a:p>
        </p:txBody>
      </p:sp>
      <p:sp>
        <p:nvSpPr>
          <p:cNvPr id="8" name="Titre 1">
            <a:extLst>
              <a:ext uri="{FF2B5EF4-FFF2-40B4-BE49-F238E27FC236}">
                <a16:creationId xmlns:a16="http://schemas.microsoft.com/office/drawing/2014/main" id="{AF4B8933-CB55-A19A-AE94-DAF959245C03}"/>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EE25251B-7DE7-358B-3948-68A7D19699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25" name="Flèche : chevron 24">
            <a:extLst>
              <a:ext uri="{FF2B5EF4-FFF2-40B4-BE49-F238E27FC236}">
                <a16:creationId xmlns:a16="http://schemas.microsoft.com/office/drawing/2014/main" id="{761EF762-13A6-20C6-7AE4-963A8DC070C3}"/>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5" name="ZoneTexte 4">
            <a:extLst>
              <a:ext uri="{FF2B5EF4-FFF2-40B4-BE49-F238E27FC236}">
                <a16:creationId xmlns:a16="http://schemas.microsoft.com/office/drawing/2014/main" id="{682F8B4F-4F45-B0C1-EAEC-0A08D1CF6633}"/>
              </a:ext>
            </a:extLst>
          </p:cNvPr>
          <p:cNvSpPr txBox="1"/>
          <p:nvPr/>
        </p:nvSpPr>
        <p:spPr>
          <a:xfrm>
            <a:off x="193189" y="1555947"/>
            <a:ext cx="5116231"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debug</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graphicFrame>
        <p:nvGraphicFramePr>
          <p:cNvPr id="6" name="Tableau 5">
            <a:extLst>
              <a:ext uri="{FF2B5EF4-FFF2-40B4-BE49-F238E27FC236}">
                <a16:creationId xmlns:a16="http://schemas.microsoft.com/office/drawing/2014/main" id="{947F9F11-6F00-D982-F42D-00749B65FFE9}"/>
              </a:ext>
            </a:extLst>
          </p:cNvPr>
          <p:cNvGraphicFramePr>
            <a:graphicFrameLocks noGrp="1"/>
          </p:cNvGraphicFramePr>
          <p:nvPr>
            <p:extLst>
              <p:ext uri="{D42A27DB-BD31-4B8C-83A1-F6EECF244321}">
                <p14:modId xmlns:p14="http://schemas.microsoft.com/office/powerpoint/2010/main" val="1095221504"/>
              </p:ext>
            </p:extLst>
          </p:nvPr>
        </p:nvGraphicFramePr>
        <p:xfrm>
          <a:off x="193188" y="2046871"/>
          <a:ext cx="5116231" cy="937070"/>
        </p:xfrm>
        <a:graphic>
          <a:graphicData uri="http://schemas.openxmlformats.org/drawingml/2006/table">
            <a:tbl>
              <a:tblPr firstRow="1" firstCol="1" bandRow="1">
                <a:tableStyleId>{5C22544A-7EE6-4342-B048-85BDC9FD1C3A}</a:tableStyleId>
              </a:tblPr>
              <a:tblGrid>
                <a:gridCol w="5116231">
                  <a:extLst>
                    <a:ext uri="{9D8B030D-6E8A-4147-A177-3AD203B41FA5}">
                      <a16:colId xmlns:a16="http://schemas.microsoft.com/office/drawing/2014/main" val="2940421465"/>
                    </a:ext>
                  </a:extLst>
                </a:gridCol>
              </a:tblGrid>
              <a:tr h="0">
                <a:tc>
                  <a:txBody>
                    <a:bodyPr/>
                    <a:lstStyle/>
                    <a:p>
                      <a:pPr algn="ctr">
                        <a:lnSpc>
                          <a:spcPct val="107000"/>
                        </a:lnSpc>
                        <a:spcAft>
                          <a:spcPts val="800"/>
                        </a:spcAft>
                        <a:buNone/>
                        <a:tabLst>
                          <a:tab pos="1028700" algn="l"/>
                        </a:tabLst>
                      </a:pPr>
                      <a:r>
                        <a:rPr lang="fr-FR" sz="1200" kern="100" dirty="0">
                          <a:solidFill>
                            <a:schemeClr val="bg1"/>
                          </a:solidFill>
                          <a:effectLst/>
                        </a:rPr>
                        <a:t>Image retirée</a:t>
                      </a:r>
                      <a:endParaRPr lang="fr-FR" sz="1100" kern="100" dirty="0">
                        <a:solidFill>
                          <a:schemeClr val="bg1"/>
                        </a:solidFill>
                        <a:effectLst/>
                      </a:endParaRPr>
                    </a:p>
                    <a:p>
                      <a:pPr algn="ctr">
                        <a:lnSpc>
                          <a:spcPct val="107000"/>
                        </a:lnSpc>
                        <a:spcAft>
                          <a:spcPts val="800"/>
                        </a:spcAft>
                        <a:buNone/>
                        <a:tabLst>
                          <a:tab pos="1028700" algn="l"/>
                        </a:tabLst>
                      </a:pPr>
                      <a:r>
                        <a:rPr lang="fr-FR" sz="1200" kern="100" dirty="0">
                          <a:solidFill>
                            <a:schemeClr val="bg1"/>
                          </a:solidFill>
                          <a:effectLst/>
                        </a:rPr>
                        <a:t> contenant des identifiants</a:t>
                      </a:r>
                      <a:endParaRPr lang="fr-FR" sz="1100" kern="100" dirty="0">
                        <a:solidFill>
                          <a:schemeClr val="bg1"/>
                        </a:solidFill>
                        <a:effectLst/>
                      </a:endParaRPr>
                    </a:p>
                    <a:p>
                      <a:pPr algn="ctr">
                        <a:lnSpc>
                          <a:spcPct val="107000"/>
                        </a:lnSpc>
                        <a:spcAft>
                          <a:spcPts val="800"/>
                        </a:spcAft>
                        <a:buNone/>
                        <a:tabLst>
                          <a:tab pos="1028700" algn="l"/>
                        </a:tabLst>
                      </a:pPr>
                      <a:r>
                        <a:rPr lang="fr-FR" sz="1200" kern="100" dirty="0">
                          <a:solidFill>
                            <a:schemeClr val="bg1"/>
                          </a:solidFill>
                          <a:effectLst/>
                        </a:rPr>
                        <a:t> du vrai compte utilisateur</a:t>
                      </a:r>
                      <a:endParaRPr lang="fr-FR" sz="11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tx1">
                        <a:lumMod val="85000"/>
                      </a:schemeClr>
                    </a:solidFill>
                  </a:tcPr>
                </a:tc>
                <a:extLst>
                  <a:ext uri="{0D108BD9-81ED-4DB2-BD59-A6C34878D82A}">
                    <a16:rowId xmlns:a16="http://schemas.microsoft.com/office/drawing/2014/main" val="32639966"/>
                  </a:ext>
                </a:extLst>
              </a:tr>
              <a:tr h="0">
                <a:tc>
                  <a:txBody>
                    <a:bodyPr/>
                    <a:lstStyle/>
                    <a:p>
                      <a:pPr algn="ctr">
                        <a:lnSpc>
                          <a:spcPct val="107000"/>
                        </a:lnSpc>
                        <a:spcAft>
                          <a:spcPts val="800"/>
                        </a:spcAft>
                        <a:buNone/>
                        <a:tabLst>
                          <a:tab pos="1028700" algn="l"/>
                        </a:tabLst>
                      </a:pPr>
                      <a:r>
                        <a:rPr lang="fr-FR" sz="1000" kern="100" dirty="0">
                          <a:solidFill>
                            <a:schemeClr val="bg1"/>
                          </a:solidFill>
                          <a:effectLst/>
                        </a:rPr>
                        <a:t>Fig1.6. a : </a:t>
                      </a:r>
                      <a:r>
                        <a:rPr lang="fr-FR" sz="1000" kern="100" dirty="0" err="1">
                          <a:solidFill>
                            <a:schemeClr val="bg1"/>
                          </a:solidFill>
                          <a:effectLst/>
                        </a:rPr>
                        <a:t>dbt</a:t>
                      </a:r>
                      <a:r>
                        <a:rPr lang="fr-FR" sz="1000" kern="100" dirty="0">
                          <a:solidFill>
                            <a:schemeClr val="bg1"/>
                          </a:solidFill>
                          <a:effectLst/>
                        </a:rPr>
                        <a:t> </a:t>
                      </a:r>
                      <a:r>
                        <a:rPr lang="fr-FR" sz="1000" kern="100" dirty="0" err="1">
                          <a:solidFill>
                            <a:schemeClr val="bg1"/>
                          </a:solidFill>
                          <a:effectLst/>
                        </a:rPr>
                        <a:t>debug</a:t>
                      </a:r>
                      <a:r>
                        <a:rPr lang="fr-FR" sz="1000" kern="100" dirty="0">
                          <a:solidFill>
                            <a:schemeClr val="bg1"/>
                          </a:solidFill>
                          <a:effectLst/>
                        </a:rPr>
                        <a:t> qui montre que tout est OK</a:t>
                      </a:r>
                      <a:endParaRPr lang="fr-FR" sz="11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tx1">
                        <a:lumMod val="85000"/>
                      </a:schemeClr>
                    </a:solidFill>
                  </a:tcPr>
                </a:tc>
                <a:extLst>
                  <a:ext uri="{0D108BD9-81ED-4DB2-BD59-A6C34878D82A}">
                    <a16:rowId xmlns:a16="http://schemas.microsoft.com/office/drawing/2014/main" val="2738853711"/>
                  </a:ext>
                </a:extLst>
              </a:tr>
            </a:tbl>
          </a:graphicData>
        </a:graphic>
      </p:graphicFrame>
      <p:sp>
        <p:nvSpPr>
          <p:cNvPr id="9" name="ZoneTexte 8">
            <a:extLst>
              <a:ext uri="{FF2B5EF4-FFF2-40B4-BE49-F238E27FC236}">
                <a16:creationId xmlns:a16="http://schemas.microsoft.com/office/drawing/2014/main" id="{408C55D8-8879-06FE-6756-0FCCD0F83B31}"/>
              </a:ext>
            </a:extLst>
          </p:cNvPr>
          <p:cNvSpPr txBox="1"/>
          <p:nvPr/>
        </p:nvSpPr>
        <p:spPr>
          <a:xfrm>
            <a:off x="193188" y="3108996"/>
            <a:ext cx="5116231"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run</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0" name="Image 9">
            <a:extLst>
              <a:ext uri="{FF2B5EF4-FFF2-40B4-BE49-F238E27FC236}">
                <a16:creationId xmlns:a16="http://schemas.microsoft.com/office/drawing/2014/main" id="{43750CA2-BD0D-AE51-D25E-8C5E3BF68CFB}"/>
              </a:ext>
            </a:extLst>
          </p:cNvPr>
          <p:cNvPicPr>
            <a:picLocks noChangeAspect="1"/>
          </p:cNvPicPr>
          <p:nvPr/>
        </p:nvPicPr>
        <p:blipFill>
          <a:blip r:embed="rId3"/>
          <a:stretch>
            <a:fillRect/>
          </a:stretch>
        </p:blipFill>
        <p:spPr>
          <a:xfrm>
            <a:off x="5648632" y="1106128"/>
            <a:ext cx="6543368" cy="5751872"/>
          </a:xfrm>
          <a:prstGeom prst="rect">
            <a:avLst/>
          </a:prstGeom>
        </p:spPr>
      </p:pic>
      <p:sp>
        <p:nvSpPr>
          <p:cNvPr id="13" name="ZoneTexte 12">
            <a:extLst>
              <a:ext uri="{FF2B5EF4-FFF2-40B4-BE49-F238E27FC236}">
                <a16:creationId xmlns:a16="http://schemas.microsoft.com/office/drawing/2014/main" id="{D01B11E0-2C1F-2663-2F33-166922B79914}"/>
              </a:ext>
            </a:extLst>
          </p:cNvPr>
          <p:cNvSpPr txBox="1"/>
          <p:nvPr/>
        </p:nvSpPr>
        <p:spPr>
          <a:xfrm>
            <a:off x="193188" y="3669487"/>
            <a:ext cx="5116231"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test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4" name="Image 13">
            <a:extLst>
              <a:ext uri="{FF2B5EF4-FFF2-40B4-BE49-F238E27FC236}">
                <a16:creationId xmlns:a16="http://schemas.microsoft.com/office/drawing/2014/main" id="{FCE9E068-1E06-C26B-BFC6-87C7F91586FC}"/>
              </a:ext>
            </a:extLst>
          </p:cNvPr>
          <p:cNvPicPr>
            <a:picLocks noChangeAspect="1"/>
          </p:cNvPicPr>
          <p:nvPr/>
        </p:nvPicPr>
        <p:blipFill>
          <a:blip r:embed="rId4"/>
          <a:stretch>
            <a:fillRect/>
          </a:stretch>
        </p:blipFill>
        <p:spPr>
          <a:xfrm>
            <a:off x="193188" y="4164145"/>
            <a:ext cx="5210175" cy="2693855"/>
          </a:xfrm>
          <a:prstGeom prst="rect">
            <a:avLst/>
          </a:prstGeom>
          <a:ln>
            <a:solidFill>
              <a:schemeClr val="bg1">
                <a:lumMod val="85000"/>
              </a:schemeClr>
            </a:solidFill>
          </a:ln>
        </p:spPr>
      </p:pic>
    </p:spTree>
    <p:extLst>
      <p:ext uri="{BB962C8B-B14F-4D97-AF65-F5344CB8AC3E}">
        <p14:creationId xmlns:p14="http://schemas.microsoft.com/office/powerpoint/2010/main" val="2343611013"/>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8BFED-ED68-1D7E-0789-2CFEBA28BA98}"/>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98533D7B-F61A-533C-2170-8851FF61F263}"/>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D6AB175D-58EC-2EF3-E17E-07F36D03B2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5" name="ZoneTexte 4">
            <a:extLst>
              <a:ext uri="{FF2B5EF4-FFF2-40B4-BE49-F238E27FC236}">
                <a16:creationId xmlns:a16="http://schemas.microsoft.com/office/drawing/2014/main" id="{B3DADAC3-6528-DDE0-B6B6-D401AA2DD890}"/>
              </a:ext>
            </a:extLst>
          </p:cNvPr>
          <p:cNvSpPr txBox="1"/>
          <p:nvPr/>
        </p:nvSpPr>
        <p:spPr>
          <a:xfrm>
            <a:off x="193189" y="1555947"/>
            <a:ext cx="6089624" cy="366575"/>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u="sng" kern="100" dirty="0">
                <a:solidFill>
                  <a:schemeClr val="bg1"/>
                </a:solidFill>
                <a:effectLst/>
                <a:latin typeface="Arial Nova" panose="020B0504020202020204" pitchFamily="34" charset="0"/>
                <a:ea typeface="Calibri" panose="020F050202020403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http://localhost:8081</a:t>
            </a:r>
            <a:endParaRPr lang="fr-FR" sz="1600" kern="100" dirty="0">
              <a:solidFill>
                <a:schemeClr val="bg1"/>
              </a:solidFill>
              <a:effectLst/>
              <a:latin typeface="Century Gothic" panose="020B0502020202020204" pitchFamily="34" charset="0"/>
              <a:ea typeface="Calibri" panose="020F0502020204030204" pitchFamily="34" charset="0"/>
              <a:cs typeface="Arial" panose="020B0604020202020204" pitchFamily="34" charset="0"/>
            </a:endParaRPr>
          </a:p>
        </p:txBody>
      </p:sp>
      <p:sp>
        <p:nvSpPr>
          <p:cNvPr id="6" name="Titre 1">
            <a:extLst>
              <a:ext uri="{FF2B5EF4-FFF2-40B4-BE49-F238E27FC236}">
                <a16:creationId xmlns:a16="http://schemas.microsoft.com/office/drawing/2014/main" id="{CF76EF69-8D56-9CC4-751A-4961B88F75E1}"/>
              </a:ext>
            </a:extLst>
          </p:cNvPr>
          <p:cNvSpPr>
            <a:spLocks noGrp="1"/>
          </p:cNvSpPr>
          <p:nvPr>
            <p:ph type="ctrTitle"/>
          </p:nvPr>
        </p:nvSpPr>
        <p:spPr>
          <a:xfrm>
            <a:off x="770066" y="991722"/>
            <a:ext cx="4539354" cy="439170"/>
          </a:xfrm>
        </p:spPr>
        <p:txBody>
          <a:bodyPr>
            <a:noAutofit/>
          </a:bodyPr>
          <a:lstStyle/>
          <a:p>
            <a:pPr algn="ctr"/>
            <a:r>
              <a:rPr lang="fr-FR" sz="2400" b="1" dirty="0"/>
              <a:t>Configuration et test de DBT</a:t>
            </a:r>
            <a:endParaRPr lang="fr-FR" sz="2400" dirty="0"/>
          </a:p>
        </p:txBody>
      </p:sp>
      <p:sp>
        <p:nvSpPr>
          <p:cNvPr id="7" name="Flèche : chevron 6">
            <a:extLst>
              <a:ext uri="{FF2B5EF4-FFF2-40B4-BE49-F238E27FC236}">
                <a16:creationId xmlns:a16="http://schemas.microsoft.com/office/drawing/2014/main" id="{DFACA2DB-7889-64D1-2467-B156F5FCB539}"/>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9" name="Image 8">
            <a:extLst>
              <a:ext uri="{FF2B5EF4-FFF2-40B4-BE49-F238E27FC236}">
                <a16:creationId xmlns:a16="http://schemas.microsoft.com/office/drawing/2014/main" id="{D8FEC40F-4D2B-C166-C0E1-5BB94334FB47}"/>
              </a:ext>
            </a:extLst>
          </p:cNvPr>
          <p:cNvPicPr>
            <a:picLocks noChangeAspect="1"/>
          </p:cNvPicPr>
          <p:nvPr/>
        </p:nvPicPr>
        <p:blipFill>
          <a:blip r:embed="rId4"/>
          <a:stretch>
            <a:fillRect/>
          </a:stretch>
        </p:blipFill>
        <p:spPr>
          <a:xfrm>
            <a:off x="193189" y="2120172"/>
            <a:ext cx="6089624" cy="2971800"/>
          </a:xfrm>
          <a:prstGeom prst="rect">
            <a:avLst/>
          </a:prstGeom>
          <a:ln>
            <a:solidFill>
              <a:schemeClr val="bg1">
                <a:lumMod val="85000"/>
              </a:schemeClr>
            </a:solidFill>
          </a:ln>
        </p:spPr>
      </p:pic>
      <p:pic>
        <p:nvPicPr>
          <p:cNvPr id="10" name="Image 9">
            <a:extLst>
              <a:ext uri="{FF2B5EF4-FFF2-40B4-BE49-F238E27FC236}">
                <a16:creationId xmlns:a16="http://schemas.microsoft.com/office/drawing/2014/main" id="{748AAA73-8250-2B53-E0F2-9B55ECC23640}"/>
              </a:ext>
            </a:extLst>
          </p:cNvPr>
          <p:cNvPicPr>
            <a:picLocks noChangeAspect="1"/>
          </p:cNvPicPr>
          <p:nvPr/>
        </p:nvPicPr>
        <p:blipFill>
          <a:blip r:embed="rId5"/>
          <a:stretch>
            <a:fillRect/>
          </a:stretch>
        </p:blipFill>
        <p:spPr>
          <a:xfrm>
            <a:off x="6614682" y="866667"/>
            <a:ext cx="5384129" cy="2839073"/>
          </a:xfrm>
          <a:prstGeom prst="rect">
            <a:avLst/>
          </a:prstGeom>
          <a:ln>
            <a:solidFill>
              <a:schemeClr val="bg1">
                <a:lumMod val="85000"/>
              </a:schemeClr>
            </a:solidFill>
          </a:ln>
        </p:spPr>
      </p:pic>
      <p:pic>
        <p:nvPicPr>
          <p:cNvPr id="13" name="Image 12">
            <a:extLst>
              <a:ext uri="{FF2B5EF4-FFF2-40B4-BE49-F238E27FC236}">
                <a16:creationId xmlns:a16="http://schemas.microsoft.com/office/drawing/2014/main" id="{0B937053-5057-BD88-677B-8CF86256B9F4}"/>
              </a:ext>
            </a:extLst>
          </p:cNvPr>
          <p:cNvPicPr>
            <a:picLocks noChangeAspect="1"/>
          </p:cNvPicPr>
          <p:nvPr/>
        </p:nvPicPr>
        <p:blipFill>
          <a:blip r:embed="rId6"/>
          <a:stretch>
            <a:fillRect/>
          </a:stretch>
        </p:blipFill>
        <p:spPr>
          <a:xfrm>
            <a:off x="6614682" y="3886200"/>
            <a:ext cx="5384129" cy="2971800"/>
          </a:xfrm>
          <a:prstGeom prst="rect">
            <a:avLst/>
          </a:prstGeom>
          <a:ln>
            <a:solidFill>
              <a:schemeClr val="bg1">
                <a:lumMod val="85000"/>
              </a:schemeClr>
            </a:solidFill>
          </a:ln>
        </p:spPr>
      </p:pic>
    </p:spTree>
    <p:extLst>
      <p:ext uri="{BB962C8B-B14F-4D97-AF65-F5344CB8AC3E}">
        <p14:creationId xmlns:p14="http://schemas.microsoft.com/office/powerpoint/2010/main" val="3951204116"/>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6E8F3-1AE1-8E63-1C13-9A375A07060C}"/>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0900254C-0B5D-05D6-6B16-806160284524}"/>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9FBD3D57-022D-4813-C5C6-0EB52FFBD0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5EFFD6F4-AEF0-AE3D-00C2-DCDEB65AAE41}"/>
              </a:ext>
            </a:extLst>
          </p:cNvPr>
          <p:cNvSpPr>
            <a:spLocks noGrp="1"/>
          </p:cNvSpPr>
          <p:nvPr>
            <p:ph type="ctrTitle"/>
          </p:nvPr>
        </p:nvSpPr>
        <p:spPr>
          <a:xfrm>
            <a:off x="770066" y="991722"/>
            <a:ext cx="3993663" cy="439170"/>
          </a:xfrm>
        </p:spPr>
        <p:txBody>
          <a:bodyPr>
            <a:noAutofit/>
          </a:bodyPr>
          <a:lstStyle/>
          <a:p>
            <a:pPr algn="ctr"/>
            <a:r>
              <a:rPr lang="fr-FR" sz="2400" b="1" dirty="0" err="1"/>
              <a:t>Airflow</a:t>
            </a:r>
            <a:r>
              <a:rPr lang="fr-FR" sz="2400" b="1" dirty="0"/>
              <a:t>, l’orchestration</a:t>
            </a:r>
            <a:endParaRPr lang="fr-FR" sz="2400" dirty="0"/>
          </a:p>
        </p:txBody>
      </p:sp>
      <p:sp>
        <p:nvSpPr>
          <p:cNvPr id="7" name="Flèche : chevron 6">
            <a:extLst>
              <a:ext uri="{FF2B5EF4-FFF2-40B4-BE49-F238E27FC236}">
                <a16:creationId xmlns:a16="http://schemas.microsoft.com/office/drawing/2014/main" id="{B4D5837B-5394-7917-C752-4ED6264922F7}"/>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2" name="Image 1">
            <a:extLst>
              <a:ext uri="{FF2B5EF4-FFF2-40B4-BE49-F238E27FC236}">
                <a16:creationId xmlns:a16="http://schemas.microsoft.com/office/drawing/2014/main" id="{E46A21B2-0ACC-16BD-D586-EB7FA0D628A8}"/>
              </a:ext>
            </a:extLst>
          </p:cNvPr>
          <p:cNvPicPr>
            <a:picLocks noChangeAspect="1"/>
          </p:cNvPicPr>
          <p:nvPr/>
        </p:nvPicPr>
        <p:blipFill>
          <a:blip r:embed="rId3"/>
          <a:stretch>
            <a:fillRect/>
          </a:stretch>
        </p:blipFill>
        <p:spPr>
          <a:xfrm>
            <a:off x="193190" y="1555947"/>
            <a:ext cx="5300018" cy="2549525"/>
          </a:xfrm>
          <a:prstGeom prst="rect">
            <a:avLst/>
          </a:prstGeom>
          <a:ln>
            <a:solidFill>
              <a:schemeClr val="bg1">
                <a:lumMod val="85000"/>
              </a:schemeClr>
            </a:solidFill>
          </a:ln>
        </p:spPr>
      </p:pic>
      <p:pic>
        <p:nvPicPr>
          <p:cNvPr id="3" name="Image 2">
            <a:extLst>
              <a:ext uri="{FF2B5EF4-FFF2-40B4-BE49-F238E27FC236}">
                <a16:creationId xmlns:a16="http://schemas.microsoft.com/office/drawing/2014/main" id="{D1AD5136-B8E7-07C7-8DC9-5B40DEF33316}"/>
              </a:ext>
            </a:extLst>
          </p:cNvPr>
          <p:cNvPicPr>
            <a:picLocks noChangeAspect="1"/>
          </p:cNvPicPr>
          <p:nvPr/>
        </p:nvPicPr>
        <p:blipFill>
          <a:blip r:embed="rId4"/>
          <a:stretch>
            <a:fillRect/>
          </a:stretch>
        </p:blipFill>
        <p:spPr>
          <a:xfrm>
            <a:off x="6395452" y="866667"/>
            <a:ext cx="5484313" cy="2971808"/>
          </a:xfrm>
          <a:prstGeom prst="rect">
            <a:avLst/>
          </a:prstGeom>
          <a:ln>
            <a:solidFill>
              <a:schemeClr val="bg1">
                <a:lumMod val="85000"/>
              </a:schemeClr>
            </a:solidFill>
          </a:ln>
        </p:spPr>
      </p:pic>
      <p:sp>
        <p:nvSpPr>
          <p:cNvPr id="11" name="ZoneTexte 10">
            <a:extLst>
              <a:ext uri="{FF2B5EF4-FFF2-40B4-BE49-F238E27FC236}">
                <a16:creationId xmlns:a16="http://schemas.microsoft.com/office/drawing/2014/main" id="{B9D06194-2392-B1B3-F7DD-6BE5A5C2AA3A}"/>
              </a:ext>
            </a:extLst>
          </p:cNvPr>
          <p:cNvSpPr txBox="1"/>
          <p:nvPr/>
        </p:nvSpPr>
        <p:spPr>
          <a:xfrm>
            <a:off x="0" y="4652810"/>
            <a:ext cx="5102942" cy="373692"/>
          </a:xfrm>
          <a:prstGeom prst="rect">
            <a:avLst/>
          </a:prstGeom>
          <a:solidFill>
            <a:schemeClr val="tx1">
              <a:lumMod val="85000"/>
            </a:schemeClr>
          </a:solidFill>
        </p:spPr>
        <p:txBody>
          <a:bodyPr wrap="square">
            <a:spAutoFit/>
          </a:bodyPr>
          <a:lstStyle/>
          <a:p>
            <a:pPr marL="342900" lvl="0" indent="-342900">
              <a:lnSpc>
                <a:spcPct val="107000"/>
              </a:lnSpc>
              <a:spcAft>
                <a:spcPts val="800"/>
              </a:spcAft>
              <a:buFont typeface="Arial Nova" panose="020B0504020202020204" pitchFamily="34" charset="0"/>
              <a:buChar char="-"/>
              <a:tabLst>
                <a:tab pos="1028700" algn="l"/>
              </a:tabLst>
            </a:pP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Lancement du dag du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pipeline_bookshoop</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4" name="Image 13">
            <a:extLst>
              <a:ext uri="{FF2B5EF4-FFF2-40B4-BE49-F238E27FC236}">
                <a16:creationId xmlns:a16="http://schemas.microsoft.com/office/drawing/2014/main" id="{74C7E1E1-0B97-7504-BF60-72C3A67F7E61}"/>
              </a:ext>
            </a:extLst>
          </p:cNvPr>
          <p:cNvPicPr>
            <a:picLocks noChangeAspect="1"/>
          </p:cNvPicPr>
          <p:nvPr/>
        </p:nvPicPr>
        <p:blipFill>
          <a:blip r:embed="rId5"/>
          <a:stretch>
            <a:fillRect/>
          </a:stretch>
        </p:blipFill>
        <p:spPr>
          <a:xfrm>
            <a:off x="6395452" y="3983353"/>
            <a:ext cx="5484313" cy="2874647"/>
          </a:xfrm>
          <a:prstGeom prst="rect">
            <a:avLst/>
          </a:prstGeom>
          <a:ln>
            <a:solidFill>
              <a:schemeClr val="bg1">
                <a:lumMod val="85000"/>
              </a:schemeClr>
            </a:solidFill>
          </a:ln>
        </p:spPr>
      </p:pic>
      <p:sp>
        <p:nvSpPr>
          <p:cNvPr id="16" name="Flèche : chevron 15">
            <a:extLst>
              <a:ext uri="{FF2B5EF4-FFF2-40B4-BE49-F238E27FC236}">
                <a16:creationId xmlns:a16="http://schemas.microsoft.com/office/drawing/2014/main" id="{83BBCD58-EB0B-A1D3-D24E-6112185022AE}"/>
              </a:ext>
            </a:extLst>
          </p:cNvPr>
          <p:cNvSpPr/>
          <p:nvPr/>
        </p:nvSpPr>
        <p:spPr>
          <a:xfrm>
            <a:off x="5367454" y="4620071"/>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Tree>
    <p:extLst>
      <p:ext uri="{BB962C8B-B14F-4D97-AF65-F5344CB8AC3E}">
        <p14:creationId xmlns:p14="http://schemas.microsoft.com/office/powerpoint/2010/main" val="1784016931"/>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EA309-8A25-BE6C-A5B9-34E325F59689}"/>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53D2F7BC-00E3-6E73-A518-F84ABBABF68D}"/>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7DC94525-19A1-61CC-60B7-2B96B2F97F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0A3A3CA8-957E-75E3-B59F-5650EB04DE3D}"/>
              </a:ext>
            </a:extLst>
          </p:cNvPr>
          <p:cNvSpPr>
            <a:spLocks noGrp="1"/>
          </p:cNvSpPr>
          <p:nvPr>
            <p:ph type="ctrTitle"/>
          </p:nvPr>
        </p:nvSpPr>
        <p:spPr>
          <a:xfrm>
            <a:off x="770066" y="991722"/>
            <a:ext cx="4332876" cy="439170"/>
          </a:xfrm>
        </p:spPr>
        <p:txBody>
          <a:bodyPr>
            <a:noAutofit/>
          </a:bodyPr>
          <a:lstStyle/>
          <a:p>
            <a:pPr algn="ctr"/>
            <a:r>
              <a:rPr lang="fr-FR" sz="2800" b="1" dirty="0" err="1"/>
              <a:t>Snowflake</a:t>
            </a:r>
            <a:r>
              <a:rPr lang="fr-FR" sz="2800" b="1" dirty="0"/>
              <a:t> et streamlit</a:t>
            </a:r>
          </a:p>
        </p:txBody>
      </p:sp>
      <p:sp>
        <p:nvSpPr>
          <p:cNvPr id="7" name="Flèche : chevron 6">
            <a:extLst>
              <a:ext uri="{FF2B5EF4-FFF2-40B4-BE49-F238E27FC236}">
                <a16:creationId xmlns:a16="http://schemas.microsoft.com/office/drawing/2014/main" id="{69463F87-1915-D9CA-E3A6-1B3AAB6B84A1}"/>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9" name="Image 8">
            <a:extLst>
              <a:ext uri="{FF2B5EF4-FFF2-40B4-BE49-F238E27FC236}">
                <a16:creationId xmlns:a16="http://schemas.microsoft.com/office/drawing/2014/main" id="{34CCE4B8-320A-0DE4-95DC-B02B890F17BD}"/>
              </a:ext>
            </a:extLst>
          </p:cNvPr>
          <p:cNvPicPr>
            <a:picLocks noChangeAspect="1"/>
          </p:cNvPicPr>
          <p:nvPr/>
        </p:nvPicPr>
        <p:blipFill>
          <a:blip r:embed="rId3"/>
          <a:stretch>
            <a:fillRect/>
          </a:stretch>
        </p:blipFill>
        <p:spPr>
          <a:xfrm>
            <a:off x="193189" y="1555947"/>
            <a:ext cx="5529185" cy="2668270"/>
          </a:xfrm>
          <a:prstGeom prst="rect">
            <a:avLst/>
          </a:prstGeom>
        </p:spPr>
      </p:pic>
      <p:sp>
        <p:nvSpPr>
          <p:cNvPr id="13" name="ZoneTexte 12">
            <a:extLst>
              <a:ext uri="{FF2B5EF4-FFF2-40B4-BE49-F238E27FC236}">
                <a16:creationId xmlns:a16="http://schemas.microsoft.com/office/drawing/2014/main" id="{26811220-9612-9A68-0EA0-44E13BF61EDB}"/>
              </a:ext>
            </a:extLst>
          </p:cNvPr>
          <p:cNvSpPr txBox="1"/>
          <p:nvPr/>
        </p:nvSpPr>
        <p:spPr>
          <a:xfrm>
            <a:off x="171911" y="4349272"/>
            <a:ext cx="5529185" cy="366575"/>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u="sng" kern="100" dirty="0">
                <a:solidFill>
                  <a:schemeClr val="bg1"/>
                </a:solidFill>
                <a:effectLst/>
                <a:latin typeface="Arial Nova" panose="020B0504020202020204" pitchFamily="34" charset="0"/>
                <a:ea typeface="Calibri" panose="020F050202020403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http://localhost:8501</a:t>
            </a:r>
            <a:endParaRPr lang="fr-FR" sz="1600" kern="100" dirty="0">
              <a:solidFill>
                <a:schemeClr val="bg1"/>
              </a:solidFill>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5" name="Image 14">
            <a:extLst>
              <a:ext uri="{FF2B5EF4-FFF2-40B4-BE49-F238E27FC236}">
                <a16:creationId xmlns:a16="http://schemas.microsoft.com/office/drawing/2014/main" id="{D6656DA1-A8BE-DD4A-DC07-AFDC8A8E0871}"/>
              </a:ext>
            </a:extLst>
          </p:cNvPr>
          <p:cNvPicPr>
            <a:picLocks noChangeAspect="1"/>
          </p:cNvPicPr>
          <p:nvPr/>
        </p:nvPicPr>
        <p:blipFill>
          <a:blip r:embed="rId5"/>
          <a:stretch>
            <a:fillRect/>
          </a:stretch>
        </p:blipFill>
        <p:spPr>
          <a:xfrm>
            <a:off x="6490906" y="1211307"/>
            <a:ext cx="5419725" cy="2447925"/>
          </a:xfrm>
          <a:prstGeom prst="rect">
            <a:avLst/>
          </a:prstGeom>
          <a:ln>
            <a:solidFill>
              <a:schemeClr val="bg1">
                <a:lumMod val="85000"/>
              </a:schemeClr>
            </a:solidFill>
          </a:ln>
        </p:spPr>
      </p:pic>
      <p:pic>
        <p:nvPicPr>
          <p:cNvPr id="17" name="Image 16">
            <a:extLst>
              <a:ext uri="{FF2B5EF4-FFF2-40B4-BE49-F238E27FC236}">
                <a16:creationId xmlns:a16="http://schemas.microsoft.com/office/drawing/2014/main" id="{F4056438-EEE7-B980-65F6-D634F84FB00A}"/>
              </a:ext>
            </a:extLst>
          </p:cNvPr>
          <p:cNvPicPr>
            <a:picLocks noChangeAspect="1"/>
          </p:cNvPicPr>
          <p:nvPr/>
        </p:nvPicPr>
        <p:blipFill>
          <a:blip r:embed="rId6"/>
          <a:stretch>
            <a:fillRect/>
          </a:stretch>
        </p:blipFill>
        <p:spPr>
          <a:xfrm>
            <a:off x="6490907" y="4012467"/>
            <a:ext cx="5419725" cy="2700655"/>
          </a:xfrm>
          <a:prstGeom prst="rect">
            <a:avLst/>
          </a:prstGeom>
          <a:ln>
            <a:solidFill>
              <a:schemeClr val="bg1">
                <a:lumMod val="85000"/>
              </a:schemeClr>
            </a:solidFill>
          </a:ln>
        </p:spPr>
      </p:pic>
    </p:spTree>
    <p:extLst>
      <p:ext uri="{BB962C8B-B14F-4D97-AF65-F5344CB8AC3E}">
        <p14:creationId xmlns:p14="http://schemas.microsoft.com/office/powerpoint/2010/main" val="3232276666"/>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5A9CB-FBE5-7D28-5121-636680783278}"/>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3CE7A75D-D300-B76B-D957-C800EA3B3DCD}"/>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EC7387AA-BB9A-C22C-2E00-4A1522033D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5328527C-B8CF-D20C-70A5-F5A7E76341FA}"/>
              </a:ext>
            </a:extLst>
          </p:cNvPr>
          <p:cNvSpPr>
            <a:spLocks noGrp="1"/>
          </p:cNvSpPr>
          <p:nvPr>
            <p:ph type="ctrTitle"/>
          </p:nvPr>
        </p:nvSpPr>
        <p:spPr>
          <a:xfrm>
            <a:off x="770066" y="991722"/>
            <a:ext cx="2489328" cy="439170"/>
          </a:xfrm>
        </p:spPr>
        <p:txBody>
          <a:bodyPr>
            <a:noAutofit/>
          </a:bodyPr>
          <a:lstStyle/>
          <a:p>
            <a:pPr algn="ctr"/>
            <a:r>
              <a:rPr lang="fr-FR" sz="2800" b="1" dirty="0" err="1"/>
              <a:t>PowerBI</a:t>
            </a:r>
            <a:endParaRPr lang="fr-FR" sz="2800" b="1" dirty="0"/>
          </a:p>
        </p:txBody>
      </p:sp>
      <p:sp>
        <p:nvSpPr>
          <p:cNvPr id="7" name="Flèche : chevron 6">
            <a:extLst>
              <a:ext uri="{FF2B5EF4-FFF2-40B4-BE49-F238E27FC236}">
                <a16:creationId xmlns:a16="http://schemas.microsoft.com/office/drawing/2014/main" id="{F8790F0D-36D7-6876-B5B4-705CA4A0CA9B}"/>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2" name="Image 1">
            <a:extLst>
              <a:ext uri="{FF2B5EF4-FFF2-40B4-BE49-F238E27FC236}">
                <a16:creationId xmlns:a16="http://schemas.microsoft.com/office/drawing/2014/main" id="{43D54146-46AE-64D2-A8B9-6B6796BEFCCC}"/>
              </a:ext>
            </a:extLst>
          </p:cNvPr>
          <p:cNvPicPr>
            <a:picLocks noChangeAspect="1"/>
          </p:cNvPicPr>
          <p:nvPr/>
        </p:nvPicPr>
        <p:blipFill>
          <a:blip r:embed="rId3"/>
          <a:stretch>
            <a:fillRect/>
          </a:stretch>
        </p:blipFill>
        <p:spPr>
          <a:xfrm>
            <a:off x="193189" y="1555947"/>
            <a:ext cx="8213392" cy="4564634"/>
          </a:xfrm>
          <a:prstGeom prst="rect">
            <a:avLst/>
          </a:prstGeom>
          <a:ln>
            <a:solidFill>
              <a:schemeClr val="bg1">
                <a:lumMod val="85000"/>
              </a:schemeClr>
            </a:solidFill>
          </a:ln>
        </p:spPr>
      </p:pic>
    </p:spTree>
    <p:extLst>
      <p:ext uri="{BB962C8B-B14F-4D97-AF65-F5344CB8AC3E}">
        <p14:creationId xmlns:p14="http://schemas.microsoft.com/office/powerpoint/2010/main" val="761065270"/>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D473F-273E-1070-9FBC-3B37960157D0}"/>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1D631E90-A33D-E49B-508F-E52D619AA087}"/>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34E2E5CC-41C1-25D4-7841-7D5813307E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0F7374D4-FC0D-70BF-9311-365CE0A447BB}"/>
              </a:ext>
            </a:extLst>
          </p:cNvPr>
          <p:cNvSpPr>
            <a:spLocks noGrp="1"/>
          </p:cNvSpPr>
          <p:nvPr>
            <p:ph type="ctrTitle"/>
          </p:nvPr>
        </p:nvSpPr>
        <p:spPr>
          <a:xfrm>
            <a:off x="770065" y="995302"/>
            <a:ext cx="3846179" cy="439170"/>
          </a:xfrm>
        </p:spPr>
        <p:txBody>
          <a:bodyPr>
            <a:noAutofit/>
          </a:bodyPr>
          <a:lstStyle/>
          <a:p>
            <a:pPr algn="ctr"/>
            <a:r>
              <a:rPr lang="fr-FR" sz="2800" b="1" dirty="0"/>
              <a:t>RESUME DU PROCESSUS</a:t>
            </a:r>
          </a:p>
        </p:txBody>
      </p:sp>
      <p:sp>
        <p:nvSpPr>
          <p:cNvPr id="7" name="Flèche : chevron 6">
            <a:extLst>
              <a:ext uri="{FF2B5EF4-FFF2-40B4-BE49-F238E27FC236}">
                <a16:creationId xmlns:a16="http://schemas.microsoft.com/office/drawing/2014/main" id="{6664020C-5C74-BDE1-AAB2-D82CE8C37E30}"/>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4" name="ZoneTexte 3">
            <a:extLst>
              <a:ext uri="{FF2B5EF4-FFF2-40B4-BE49-F238E27FC236}">
                <a16:creationId xmlns:a16="http://schemas.microsoft.com/office/drawing/2014/main" id="{C8598BFF-A6D1-A8A9-9B46-4FCAA865372E}"/>
              </a:ext>
            </a:extLst>
          </p:cNvPr>
          <p:cNvSpPr txBox="1"/>
          <p:nvPr/>
        </p:nvSpPr>
        <p:spPr>
          <a:xfrm>
            <a:off x="1409200" y="1484541"/>
            <a:ext cx="2166553" cy="966418"/>
          </a:xfrm>
          <a:prstGeom prst="rect">
            <a:avLst/>
          </a:prstGeom>
          <a:solidFill>
            <a:schemeClr val="tx1">
              <a:lumMod val="85000"/>
            </a:schemeClr>
          </a:solidFill>
        </p:spPr>
        <p:txBody>
          <a:bodyPr wrap="square">
            <a:spAutoFit/>
          </a:bodyPr>
          <a:lstStyle/>
          <a:p>
            <a:pPr lvl="0">
              <a:lnSpc>
                <a:spcPct val="107000"/>
              </a:lnSpc>
              <a:spcAft>
                <a:spcPts val="800"/>
              </a:spcAft>
              <a:tabLst>
                <a:tab pos="1028700" algn="l"/>
              </a:tabLst>
            </a:pP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Renseigner les informations sur streamlit</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0" name="ZoneTexte 9">
            <a:extLst>
              <a:ext uri="{FF2B5EF4-FFF2-40B4-BE49-F238E27FC236}">
                <a16:creationId xmlns:a16="http://schemas.microsoft.com/office/drawing/2014/main" id="{0CB7A9F7-5308-6F4B-1206-6363E70C4A9B}"/>
              </a:ext>
            </a:extLst>
          </p:cNvPr>
          <p:cNvSpPr txBox="1"/>
          <p:nvPr/>
        </p:nvSpPr>
        <p:spPr>
          <a:xfrm>
            <a:off x="895309" y="3991187"/>
            <a:ext cx="1797845" cy="966418"/>
          </a:xfrm>
          <a:prstGeom prst="rect">
            <a:avLst/>
          </a:prstGeom>
          <a:solidFill>
            <a:schemeClr val="tx1">
              <a:lumMod val="85000"/>
            </a:schemeClr>
          </a:solidFill>
        </p:spPr>
        <p:txBody>
          <a:bodyPr wrap="square">
            <a:spAutoFit/>
          </a:bodyPr>
          <a:lstStyle/>
          <a:p>
            <a:pPr lvl="0" algn="just">
              <a:lnSpc>
                <a:spcPct val="107000"/>
              </a:lnSpc>
              <a:spcAft>
                <a:spcPts val="800"/>
              </a:spcAft>
              <a:tabLst>
                <a:tab pos="1028700" algn="l"/>
              </a:tabLst>
            </a:pP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Les données se logent dans la base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postgres</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5" name="ZoneTexte 14">
            <a:extLst>
              <a:ext uri="{FF2B5EF4-FFF2-40B4-BE49-F238E27FC236}">
                <a16:creationId xmlns:a16="http://schemas.microsoft.com/office/drawing/2014/main" id="{A4D0B631-6589-A953-A02F-FC1A3DB26657}"/>
              </a:ext>
            </a:extLst>
          </p:cNvPr>
          <p:cNvSpPr txBox="1"/>
          <p:nvPr/>
        </p:nvSpPr>
        <p:spPr>
          <a:xfrm>
            <a:off x="3790336" y="5487892"/>
            <a:ext cx="2492631" cy="966418"/>
          </a:xfrm>
          <a:prstGeom prst="rect">
            <a:avLst/>
          </a:prstGeom>
          <a:solidFill>
            <a:schemeClr val="tx1">
              <a:lumMod val="85000"/>
            </a:schemeClr>
          </a:solidFill>
        </p:spPr>
        <p:txBody>
          <a:bodyPr wrap="square">
            <a:spAutoFit/>
          </a:bodyPr>
          <a:lstStyle/>
          <a:p>
            <a:pPr lvl="0" algn="just">
              <a:lnSpc>
                <a:spcPct val="107000"/>
              </a:lnSpc>
              <a:spcAft>
                <a:spcPts val="800"/>
              </a:spcAft>
              <a:tabLst>
                <a:tab pos="1028700" algn="l"/>
              </a:tabLst>
            </a:pP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Airflow récupère et chemine les données sur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snowflake</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9" name="ZoneTexte 18">
            <a:extLst>
              <a:ext uri="{FF2B5EF4-FFF2-40B4-BE49-F238E27FC236}">
                <a16:creationId xmlns:a16="http://schemas.microsoft.com/office/drawing/2014/main" id="{A98F7C95-6E10-2A9F-F782-149AB5552510}"/>
              </a:ext>
            </a:extLst>
          </p:cNvPr>
          <p:cNvSpPr txBox="1"/>
          <p:nvPr/>
        </p:nvSpPr>
        <p:spPr>
          <a:xfrm>
            <a:off x="7265805" y="3722612"/>
            <a:ext cx="2913445" cy="1559145"/>
          </a:xfrm>
          <a:prstGeom prst="rect">
            <a:avLst/>
          </a:prstGeom>
          <a:solidFill>
            <a:schemeClr val="tx1">
              <a:lumMod val="85000"/>
            </a:schemeClr>
          </a:solidFill>
        </p:spPr>
        <p:txBody>
          <a:bodyPr wrap="square">
            <a:spAutoFit/>
          </a:bodyPr>
          <a:lstStyle/>
          <a:p>
            <a:pPr lvl="0" algn="just">
              <a:lnSpc>
                <a:spcPct val="107000"/>
              </a:lnSpc>
              <a:spcAft>
                <a:spcPts val="800"/>
              </a:spcAft>
              <a:tabLst>
                <a:tab pos="1028700" algn="l"/>
              </a:tabLst>
            </a:pP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Dbt</a:t>
            </a: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 récupère le données sources sur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snowflake</a:t>
            </a:r>
            <a:r>
              <a:rPr lang="fr-FR" kern="100" dirty="0">
                <a:solidFill>
                  <a:schemeClr val="bg1"/>
                </a:solidFill>
                <a:latin typeface="Arial Nova" panose="020B0504020202020204" pitchFamily="34" charset="0"/>
                <a:ea typeface="Calibri" panose="020F0502020204030204" pitchFamily="34" charset="0"/>
                <a:cs typeface="Times New Roman" panose="02020603050405020304" pitchFamily="18" charset="0"/>
              </a:rPr>
              <a:t>, </a:t>
            </a: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les transforment et les renvoie dans d’autres schémas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snowflake</a:t>
            </a:r>
            <a:r>
              <a:rPr lang="fr-FR" kern="100" dirty="0">
                <a:solidFill>
                  <a:schemeClr val="bg1"/>
                </a:solidFill>
                <a:latin typeface="Arial Nova" panose="020B0504020202020204" pitchFamily="34" charset="0"/>
                <a:ea typeface="Calibri" panose="020F0502020204030204" pitchFamily="34" charset="0"/>
                <a:cs typeface="Times New Roman" panose="02020603050405020304" pitchFamily="18" charset="0"/>
              </a:rPr>
              <a:t> </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1" name="ZoneTexte 20">
            <a:extLst>
              <a:ext uri="{FF2B5EF4-FFF2-40B4-BE49-F238E27FC236}">
                <a16:creationId xmlns:a16="http://schemas.microsoft.com/office/drawing/2014/main" id="{343BBF83-757E-22DE-B71E-69B5C9B62A2D}"/>
              </a:ext>
            </a:extLst>
          </p:cNvPr>
          <p:cNvSpPr txBox="1"/>
          <p:nvPr/>
        </p:nvSpPr>
        <p:spPr>
          <a:xfrm>
            <a:off x="6096000" y="1460687"/>
            <a:ext cx="2552330" cy="966418"/>
          </a:xfrm>
          <a:prstGeom prst="rect">
            <a:avLst/>
          </a:prstGeom>
          <a:solidFill>
            <a:schemeClr val="tx1">
              <a:lumMod val="85000"/>
            </a:schemeClr>
          </a:solidFill>
        </p:spPr>
        <p:txBody>
          <a:bodyPr wrap="square">
            <a:spAutoFit/>
          </a:bodyPr>
          <a:lstStyle/>
          <a:p>
            <a:pPr lvl="0" algn="just">
              <a:lnSpc>
                <a:spcPct val="107000"/>
              </a:lnSpc>
              <a:spcAft>
                <a:spcPts val="800"/>
              </a:spcAft>
              <a:tabLst>
                <a:tab pos="1028700" algn="l"/>
              </a:tabLst>
            </a:pP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PowerBI</a:t>
            </a: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 utilise les données transformées pour la visualisation</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4" name="Flèche : courbe vers la droite 23">
            <a:extLst>
              <a:ext uri="{FF2B5EF4-FFF2-40B4-BE49-F238E27FC236}">
                <a16:creationId xmlns:a16="http://schemas.microsoft.com/office/drawing/2014/main" id="{B0F6CEB7-B4A9-82DF-C271-EBD92BB2012C}"/>
              </a:ext>
            </a:extLst>
          </p:cNvPr>
          <p:cNvSpPr/>
          <p:nvPr/>
        </p:nvSpPr>
        <p:spPr>
          <a:xfrm>
            <a:off x="895309" y="1967750"/>
            <a:ext cx="513891" cy="2023437"/>
          </a:xfrm>
          <a:prstGeom prst="curvedRightArrow">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6" name="Flèche : courbe vers la droite 25">
            <a:extLst>
              <a:ext uri="{FF2B5EF4-FFF2-40B4-BE49-F238E27FC236}">
                <a16:creationId xmlns:a16="http://schemas.microsoft.com/office/drawing/2014/main" id="{3EDF2189-6485-5ACE-5267-9DC400B759C1}"/>
              </a:ext>
            </a:extLst>
          </p:cNvPr>
          <p:cNvSpPr/>
          <p:nvPr/>
        </p:nvSpPr>
        <p:spPr>
          <a:xfrm rot="18730147">
            <a:off x="2355034" y="4787593"/>
            <a:ext cx="688303" cy="2299725"/>
          </a:xfrm>
          <a:prstGeom prst="curvedRightArrow">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31" name="Flèche : courbe vers la droite 30">
            <a:extLst>
              <a:ext uri="{FF2B5EF4-FFF2-40B4-BE49-F238E27FC236}">
                <a16:creationId xmlns:a16="http://schemas.microsoft.com/office/drawing/2014/main" id="{C407E576-7317-9CEF-B2E3-70B970591326}"/>
              </a:ext>
            </a:extLst>
          </p:cNvPr>
          <p:cNvSpPr/>
          <p:nvPr/>
        </p:nvSpPr>
        <p:spPr>
          <a:xfrm rot="14205165">
            <a:off x="6971609" y="4923105"/>
            <a:ext cx="588393" cy="1908735"/>
          </a:xfrm>
          <a:prstGeom prst="curvedRightArrow">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33" name="Flèche : courbe vers la droite 32">
            <a:extLst>
              <a:ext uri="{FF2B5EF4-FFF2-40B4-BE49-F238E27FC236}">
                <a16:creationId xmlns:a16="http://schemas.microsoft.com/office/drawing/2014/main" id="{E4BF6E47-829A-3958-F54D-55D53A2B9696}"/>
              </a:ext>
            </a:extLst>
          </p:cNvPr>
          <p:cNvSpPr/>
          <p:nvPr/>
        </p:nvSpPr>
        <p:spPr>
          <a:xfrm rot="9834306">
            <a:off x="8871477" y="1635453"/>
            <a:ext cx="714497" cy="2032329"/>
          </a:xfrm>
          <a:prstGeom prst="curvedRightArrow">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767819900"/>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D9DAE-00A1-95C3-2BDF-FEB51EACF9B2}"/>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FE496A78-A83D-1EAC-6007-D54FD88FC804}"/>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0C910B03-972D-86E4-2195-13011D0B1D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2DB691A2-9B87-FB51-57B6-DD4C96163BD5}"/>
              </a:ext>
            </a:extLst>
          </p:cNvPr>
          <p:cNvSpPr>
            <a:spLocks noGrp="1"/>
          </p:cNvSpPr>
          <p:nvPr>
            <p:ph type="ctrTitle"/>
          </p:nvPr>
        </p:nvSpPr>
        <p:spPr>
          <a:xfrm>
            <a:off x="3822980" y="1582838"/>
            <a:ext cx="3669201" cy="721789"/>
          </a:xfrm>
        </p:spPr>
        <p:txBody>
          <a:bodyPr>
            <a:noAutofit/>
          </a:bodyPr>
          <a:lstStyle/>
          <a:p>
            <a:pPr algn="ctr"/>
            <a:r>
              <a:rPr lang="fr-FR" b="1" dirty="0"/>
              <a:t>Merci</a:t>
            </a:r>
            <a:endParaRPr lang="fr-FR" sz="2800" b="1" dirty="0"/>
          </a:p>
        </p:txBody>
      </p:sp>
    </p:spTree>
    <p:extLst>
      <p:ext uri="{BB962C8B-B14F-4D97-AF65-F5344CB8AC3E}">
        <p14:creationId xmlns:p14="http://schemas.microsoft.com/office/powerpoint/2010/main" val="3264505153"/>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Template>
  <TotalTime>141</TotalTime>
  <Words>615</Words>
  <Application>Microsoft Office PowerPoint</Application>
  <PresentationFormat>Grand écran</PresentationFormat>
  <Paragraphs>92</Paragraphs>
  <Slides>13</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13</vt:i4>
      </vt:variant>
    </vt:vector>
  </HeadingPairs>
  <TitlesOfParts>
    <vt:vector size="19" baseType="lpstr">
      <vt:lpstr>Arial</vt:lpstr>
      <vt:lpstr>Arial Nova</vt:lpstr>
      <vt:lpstr>Calibri</vt:lpstr>
      <vt:lpstr>Century Gothic</vt:lpstr>
      <vt:lpstr>Tw Cen MT</vt:lpstr>
      <vt:lpstr>Circuit</vt:lpstr>
      <vt:lpstr>SYSTEME DE VENTE DES LIVRES</vt:lpstr>
      <vt:lpstr>SYSTEME DE VENTE DES LIVRES</vt:lpstr>
      <vt:lpstr>Lancement du programme</vt:lpstr>
      <vt:lpstr>Création de la base de données et des tables dans snowflake</vt:lpstr>
      <vt:lpstr>Création du fichier profiles.yml dans le container</vt:lpstr>
      <vt:lpstr>Création du fichier profiles.yml dans le container</vt:lpstr>
      <vt:lpstr>Configuration et test de DBT</vt:lpstr>
      <vt:lpstr>Configuration et test de DBT</vt:lpstr>
      <vt:lpstr>Airflow, l’orchestration</vt:lpstr>
      <vt:lpstr>Snowflake et streamlit</vt:lpstr>
      <vt:lpstr>PowerBI</vt:lpstr>
      <vt:lpstr>RESUME DU PROCESSUS</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Rovincy Prince Lémy MOUTSITA</dc:creator>
  <cp:lastModifiedBy>Eudes BANIEK</cp:lastModifiedBy>
  <cp:revision>15</cp:revision>
  <dcterms:created xsi:type="dcterms:W3CDTF">2026-04-30T08:12:37Z</dcterms:created>
  <dcterms:modified xsi:type="dcterms:W3CDTF">2026-04-30T12:07:51Z</dcterms:modified>
</cp:coreProperties>
</file>